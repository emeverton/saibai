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Anton"/>
      <p:regular r:id="rId52"/>
    </p:embeddedFont>
    <p:embeddedFont>
      <p:font typeface="Inter SemiBold"/>
      <p:regular r:id="rId53"/>
      <p:bold r:id="rId54"/>
      <p:italic r:id="rId55"/>
      <p:boldItalic r:id="rId56"/>
    </p:embeddedFont>
    <p:embeddedFont>
      <p:font typeface="Inter Light"/>
      <p:regular r:id="rId57"/>
      <p:bold r:id="rId58"/>
      <p:italic r:id="rId59"/>
      <p:boldItalic r:id="rId60"/>
    </p:embeddedFont>
    <p:embeddedFont>
      <p:font typeface="Inter"/>
      <p:regular r:id="rId61"/>
      <p:bold r:id="rId62"/>
      <p:italic r:id="rId63"/>
      <p:boldItalic r:id="rId64"/>
    </p:embeddedFont>
    <p:embeddedFont>
      <p:font typeface="Inter ExtraBold"/>
      <p:bold r:id="rId65"/>
      <p:boldItalic r:id="rId66"/>
    </p:embeddedFont>
    <p:embeddedFont>
      <p:font typeface="Work Sans"/>
      <p:regular r:id="rId67"/>
      <p:bold r:id="rId68"/>
      <p:italic r:id="rId69"/>
      <p:boldItalic r:id="rId70"/>
    </p:embeddedFont>
    <p:embeddedFont>
      <p:font typeface="Oswald"/>
      <p:regular r:id="rId71"/>
      <p:bold r:id="rId72"/>
    </p:embeddedFont>
    <p:embeddedFont>
      <p:font typeface="Inter ExtraLight"/>
      <p:regular r:id="rId73"/>
      <p:bold r:id="rId74"/>
      <p:italic r:id="rId75"/>
      <p:boldItalic r:id="rId76"/>
    </p:embeddedFont>
    <p:embeddedFont>
      <p:font typeface="Inter Medium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E5091A-B31C-44FE-8C7A-EF19623BE74A}">
  <a:tblStyle styleId="{32E5091A-B31C-44FE-8C7A-EF19623BE7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61D2405-9474-449A-9A8B-541D3B844CA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Inter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InterExtraLight-regular.fntdata"/><Relationship Id="rId72" Type="http://schemas.openxmlformats.org/officeDocument/2006/relationships/font" Target="fonts/Oswald-bold.fntdata"/><Relationship Id="rId31" Type="http://schemas.openxmlformats.org/officeDocument/2006/relationships/slide" Target="slides/slide25.xml"/><Relationship Id="rId75" Type="http://schemas.openxmlformats.org/officeDocument/2006/relationships/font" Target="fonts/InterExtraLight-italic.fntdata"/><Relationship Id="rId30" Type="http://schemas.openxmlformats.org/officeDocument/2006/relationships/slide" Target="slides/slide24.xml"/><Relationship Id="rId74" Type="http://schemas.openxmlformats.org/officeDocument/2006/relationships/font" Target="fonts/InterExtraLight-bold.fntdata"/><Relationship Id="rId33" Type="http://schemas.openxmlformats.org/officeDocument/2006/relationships/slide" Target="slides/slide27.xml"/><Relationship Id="rId77" Type="http://schemas.openxmlformats.org/officeDocument/2006/relationships/font" Target="fonts/InterMedium-regular.fntdata"/><Relationship Id="rId32" Type="http://schemas.openxmlformats.org/officeDocument/2006/relationships/slide" Target="slides/slide26.xml"/><Relationship Id="rId76" Type="http://schemas.openxmlformats.org/officeDocument/2006/relationships/font" Target="fonts/InterExtraLight-boldItalic.fntdata"/><Relationship Id="rId35" Type="http://schemas.openxmlformats.org/officeDocument/2006/relationships/slide" Target="slides/slide29.xml"/><Relationship Id="rId79" Type="http://schemas.openxmlformats.org/officeDocument/2006/relationships/font" Target="fonts/InterMedium-italic.fntdata"/><Relationship Id="rId34" Type="http://schemas.openxmlformats.org/officeDocument/2006/relationships/slide" Target="slides/slide28.xml"/><Relationship Id="rId78" Type="http://schemas.openxmlformats.org/officeDocument/2006/relationships/font" Target="fonts/InterMedium-bold.fntdata"/><Relationship Id="rId71" Type="http://schemas.openxmlformats.org/officeDocument/2006/relationships/font" Target="fonts/Oswald-regular.fntdata"/><Relationship Id="rId70" Type="http://schemas.openxmlformats.org/officeDocument/2006/relationships/font" Target="fonts/WorkSans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-bold.fntdata"/><Relationship Id="rId61" Type="http://schemas.openxmlformats.org/officeDocument/2006/relationships/font" Target="fonts/Inter-regular.fntdata"/><Relationship Id="rId20" Type="http://schemas.openxmlformats.org/officeDocument/2006/relationships/slide" Target="slides/slide14.xml"/><Relationship Id="rId64" Type="http://schemas.openxmlformats.org/officeDocument/2006/relationships/font" Target="fonts/Inter-boldItalic.fntdata"/><Relationship Id="rId63" Type="http://schemas.openxmlformats.org/officeDocument/2006/relationships/font" Target="fonts/Inter-italic.fntdata"/><Relationship Id="rId22" Type="http://schemas.openxmlformats.org/officeDocument/2006/relationships/slide" Target="slides/slide16.xml"/><Relationship Id="rId66" Type="http://schemas.openxmlformats.org/officeDocument/2006/relationships/font" Target="fonts/InterExtraBold-boldItalic.fntdata"/><Relationship Id="rId21" Type="http://schemas.openxmlformats.org/officeDocument/2006/relationships/slide" Target="slides/slide15.xml"/><Relationship Id="rId65" Type="http://schemas.openxmlformats.org/officeDocument/2006/relationships/font" Target="fonts/InterExtraBold-bold.fntdata"/><Relationship Id="rId24" Type="http://schemas.openxmlformats.org/officeDocument/2006/relationships/slide" Target="slides/slide18.xml"/><Relationship Id="rId68" Type="http://schemas.openxmlformats.org/officeDocument/2006/relationships/font" Target="fonts/WorkSans-bold.fntdata"/><Relationship Id="rId23" Type="http://schemas.openxmlformats.org/officeDocument/2006/relationships/slide" Target="slides/slide17.xml"/><Relationship Id="rId67" Type="http://schemas.openxmlformats.org/officeDocument/2006/relationships/font" Target="fonts/WorkSans-regular.fntdata"/><Relationship Id="rId60" Type="http://schemas.openxmlformats.org/officeDocument/2006/relationships/font" Target="fonts/InterLight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Work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InterSemiBold-regular.fntdata"/><Relationship Id="rId52" Type="http://schemas.openxmlformats.org/officeDocument/2006/relationships/font" Target="fonts/Anton-regular.fntdata"/><Relationship Id="rId11" Type="http://schemas.openxmlformats.org/officeDocument/2006/relationships/slide" Target="slides/slide5.xml"/><Relationship Id="rId55" Type="http://schemas.openxmlformats.org/officeDocument/2006/relationships/font" Target="fonts/InterSemiBold-italic.fntdata"/><Relationship Id="rId10" Type="http://schemas.openxmlformats.org/officeDocument/2006/relationships/slide" Target="slides/slide4.xml"/><Relationship Id="rId54" Type="http://schemas.openxmlformats.org/officeDocument/2006/relationships/font" Target="fonts/InterSemiBold-bold.fntdata"/><Relationship Id="rId13" Type="http://schemas.openxmlformats.org/officeDocument/2006/relationships/slide" Target="slides/slide7.xml"/><Relationship Id="rId57" Type="http://schemas.openxmlformats.org/officeDocument/2006/relationships/font" Target="fonts/InterLight-regular.fntdata"/><Relationship Id="rId12" Type="http://schemas.openxmlformats.org/officeDocument/2006/relationships/slide" Target="slides/slide6.xml"/><Relationship Id="rId56" Type="http://schemas.openxmlformats.org/officeDocument/2006/relationships/font" Target="fonts/InterSemiBold-boldItalic.fntdata"/><Relationship Id="rId15" Type="http://schemas.openxmlformats.org/officeDocument/2006/relationships/slide" Target="slides/slide9.xml"/><Relationship Id="rId59" Type="http://schemas.openxmlformats.org/officeDocument/2006/relationships/font" Target="fonts/InterLight-italic.fntdata"/><Relationship Id="rId14" Type="http://schemas.openxmlformats.org/officeDocument/2006/relationships/slide" Target="slides/slide8.xml"/><Relationship Id="rId58" Type="http://schemas.openxmlformats.org/officeDocument/2006/relationships/font" Target="fonts/InterLigh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3f2fd0e69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63f2fd0e69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3f2fd0e69_0_5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3f2fd0e69_0_5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0961c842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0961c84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3f2fd0e69_0_5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3f2fd0e69_0_5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5276eccd6_1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5276eccd6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5276eccd6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5276eccd6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0961c842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0961c842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0961c842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0961c842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0961c842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0961c842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961c842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961c842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3f2fd0e69_0_5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3f2fd0e69_0_5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3f2fd0e69_0_6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3f2fd0e69_0_6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3f2fd0e69_0_5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3f2fd0e69_0_5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0961c842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0961c842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0961c842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0961c842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0961c842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0961c842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0961c842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0961c842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3f2fd0e69_0_5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3f2fd0e69_0_5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426151d37_7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426151d37_7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0961c842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0961c842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0961c842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0961c842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3f2fd0e69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3f2fd0e69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3f2fd0e69_5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3f2fd0e69_5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3f2fd0e69_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3f2fd0e69_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3f2fd0e69_5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63f2fd0e69_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3f2fd0e69_5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3f2fd0e69_5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3f2fd0e69_5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63f2fd0e69_5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3f2fd0e69_5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3f2fd0e69_5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3f2fd0e69_5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63f2fd0e69_5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3f2fd0e69_0_5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3f2fd0e69_0_5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3f2fd0e69_0_5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3f2fd0e69_0_5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3f2fd0e69_1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3f2fd0e69_1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3f2fd0e69_0_5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63f2fd0e69_0_5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5276eccd6_1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45276eccd6_1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63f2fd0e69_5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63f2fd0e69_5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3f2fd0e69_5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3f2fd0e69_5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5276eccd6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45276eccd6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5276eccd6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5276eccd6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5276eccd6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45276eccd6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45276eccd6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45276eccd6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5276eccd6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5276eccd6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45276eccd6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45276eccd6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63f2fd0e69_0_3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63f2fd0e69_0_3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3f2fd0e69_0_3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63f2fd0e69_0_3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5276eccd6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45276eccd6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3.jpg"/><Relationship Id="rId5" Type="http://schemas.openxmlformats.org/officeDocument/2006/relationships/image" Target="../media/image6.jpg"/><Relationship Id="rId6" Type="http://schemas.openxmlformats.org/officeDocument/2006/relationships/image" Target="../media/image5.jpg"/><Relationship Id="rId7" Type="http://schemas.openxmlformats.org/officeDocument/2006/relationships/image" Target="../media/image7.jpg"/><Relationship Id="rId8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hyperlink" Target="https://docs.google.com/spreadsheets/d/1u8_Nz5oKAr7r7A5a4FjCJ47FZzs-WJeucTarb4I7kLA/edit?gid=575868488#gid=575868488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449425" y="1632900"/>
            <a:ext cx="520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DIAGNÓSTICO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COMERCIAL</a:t>
            </a:r>
            <a:endParaRPr sz="55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938" y="4306421"/>
            <a:ext cx="1156899" cy="3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571175" y="354300"/>
            <a:ext cx="36480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E PLANEJAMENTO DE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MARKETING E VENDAS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4616575" y="1925250"/>
            <a:ext cx="4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CLIENTE OCULTO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4729650" y="359725"/>
            <a:ext cx="20103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32200" y="1267200"/>
            <a:ext cx="76941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anal avaliado: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WhatsApp Comercial Saibai</a:t>
            </a:r>
            <a:b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Atendente: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Gustavo</a:t>
            </a:r>
            <a:b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Cenário simulado: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Cliente PF interessado em alcachofra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Perguntas sobre valores, disponibilidade, prazos e abrangência de entrega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Cenário adicional B2B (restaurante da “tia”)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Solicitação de informação histórica de preços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Consulta sobre logística para Mogi das Cruzes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avaliar experiência, fluidez, velocidade, clareza, poder de persuasão, estrutura comercial e aderência ao funil.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</a:t>
            </a: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34550" y="1180425"/>
            <a:ext cx="8274900" cy="3367200"/>
          </a:xfrm>
          <a:prstGeom prst="roundRect">
            <a:avLst>
              <a:gd fmla="val 4193" name="adj"/>
            </a:avLst>
          </a:prstGeom>
          <a:solidFill>
            <a:srgbClr val="000000">
              <a:alpha val="43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PRINT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17" title="0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725" y="1289100"/>
            <a:ext cx="1454351" cy="31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 title="02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51774" y="1289095"/>
            <a:ext cx="1454351" cy="3149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03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4825" y="1289089"/>
            <a:ext cx="1454351" cy="3149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04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37875" y="1289100"/>
            <a:ext cx="1454351" cy="3149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05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30925" y="1289100"/>
            <a:ext cx="1454351" cy="314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532200" y="1267200"/>
            <a:ext cx="7694100" cy="28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Avaliação da Jornada de Atendimento:</a:t>
            </a:r>
            <a:endParaRPr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Tempo de Resposta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Primeira resposta: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rápida e cordial.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Há momentos críticos com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grande demora,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por exemplo: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Cliente pergunta 15:11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Nova mensagem 16:11 (“Olá?”)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Resposta só às 16:28 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📌 </a:t>
            </a:r>
            <a:r>
              <a:rPr i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Impacto: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quebra de ritmo, fricção e risco de perda de venda — especialmente PF, que é imediatista.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411600" y="1181025"/>
            <a:ext cx="8320800" cy="3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Comunicação &amp; Tom de Voz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positivos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Educado, simpático e cordial.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Explica de forma simples e direta que a safra acabou.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Demonstra conhecimento técnico básico (produção, prazos, logística).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de melhoria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faz perguntas qualificadoras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→ perde oportunidade de entender intenção e urgência.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guia a conversa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→ atende, mas não converte.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explora objeções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utiliza gatilhos (prova social, escassez, exclusividade, autoridade).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353925" y="956700"/>
            <a:ext cx="73965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Oferta &amp; Explicação de Produto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identificados: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Gustavo lista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valores da safra passada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corretamente.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Traz transparência ao explicar: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que a safra acabou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previsão de retorno (abril)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fatores que influenciam preço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de falha comercial: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apresenta nenhum produto alternativo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(ex.: alcachofra congelada, conserva, mix).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envia link do e-commerce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envia catálogo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envia foto dos produtos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posiciona a Saibai como premium.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Resultado: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Atendimento informativo, não vendedor.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353925" y="956700"/>
            <a:ext cx="73965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Oferta &amp; Explicação de Produto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identificados: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Gustavo lista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valores da safra passada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corretamente.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Traz transparência ao explicar: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que a safra acabou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previsão de retorno (abril)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fatores que influenciam preço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de falha comercial: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apresenta nenhum produto alternativo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(ex.: alcachofra congelada, conserva, mix).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envia link do e-commerce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envia catálogo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envia foto dos produtos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posiciona a Saibai como premium.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Resultado: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Atendimento informativo, não vendedor.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353925" y="1171000"/>
            <a:ext cx="73965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Logística &amp; Resposta sobre Entrega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positivos: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Deixa claro onde há logística própria.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Esclarece que Mogi é atendido via Correios.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Dá estimativa de entrega (“3/4 dias”).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Pontos de melhoria: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verifica CEP do cliente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para dar prazo real.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orienta sobre custos de frete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oferece alternativas de entrega expressa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mapeia urgência do pedido.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353925" y="361775"/>
            <a:ext cx="362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CLIENTE OCULTO: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53925" y="1023675"/>
            <a:ext cx="7396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Nota Geral do Cliente Oculto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126" name="Google Shape;126;p23"/>
          <p:cNvGraphicFramePr/>
          <p:nvPr/>
        </p:nvGraphicFramePr>
        <p:xfrm>
          <a:off x="456875" y="16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{32E5091A-B31C-44FE-8C7A-EF19623BE74A}</a:tableStyleId>
              </a:tblPr>
              <a:tblGrid>
                <a:gridCol w="2751250"/>
                <a:gridCol w="1258375"/>
                <a:gridCol w="4244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Pilar</a:t>
                      </a:r>
                      <a:endParaRPr b="1" sz="16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Nota (0–10)</a:t>
                      </a:r>
                      <a:endParaRPr b="1" sz="13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Justificativa</a:t>
                      </a:r>
                      <a:endParaRPr b="1" sz="13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30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Velocidade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Respostas longas demais em alguns momentos.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Clareza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7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Explica bem safra, logística e valores.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26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Persuasão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Não conduz à venda.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19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Qualificação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Zero perguntas estratégicas.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22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Aproveitamento comercial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Não coleta lead, não faz follow-up, não cria oportunidade.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Experiência geral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6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Cortesia boa, mas ausência total de funil.</a:t>
                      </a:r>
                      <a:endParaRPr sz="11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" name="Google Shape;127;p23"/>
          <p:cNvSpPr txBox="1"/>
          <p:nvPr/>
        </p:nvSpPr>
        <p:spPr>
          <a:xfrm>
            <a:off x="456875" y="4342200"/>
            <a:ext cx="84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Média geral:</a:t>
            </a:r>
            <a:r>
              <a:rPr lang="pt-BR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3,7/10 - Baixa maturidade comercial.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/>
        </p:nvSpPr>
        <p:spPr>
          <a:xfrm>
            <a:off x="353925" y="361775"/>
            <a:ext cx="293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PLANO DE AÇÃO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4"/>
          <p:cNvCxnSpPr>
            <a:stCxn id="135" idx="6"/>
          </p:cNvCxnSpPr>
          <p:nvPr/>
        </p:nvCxnSpPr>
        <p:spPr>
          <a:xfrm>
            <a:off x="439863" y="1472576"/>
            <a:ext cx="4800" cy="3247500"/>
          </a:xfrm>
          <a:prstGeom prst="straightConnector1">
            <a:avLst/>
          </a:prstGeom>
          <a:noFill/>
          <a:ln cap="flat" cmpd="sng" w="38100">
            <a:solidFill>
              <a:srgbClr val="FE1F1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" name="Google Shape;136;p24"/>
          <p:cNvGrpSpPr/>
          <p:nvPr/>
        </p:nvGrpSpPr>
        <p:grpSpPr>
          <a:xfrm rot="5400000">
            <a:off x="353913" y="1338926"/>
            <a:ext cx="171900" cy="171900"/>
            <a:chOff x="2361800" y="2930600"/>
            <a:chExt cx="171900" cy="171900"/>
          </a:xfrm>
        </p:grpSpPr>
        <p:sp>
          <p:nvSpPr>
            <p:cNvPr id="137" name="Google Shape;137;p24"/>
            <p:cNvSpPr/>
            <p:nvPr/>
          </p:nvSpPr>
          <p:spPr>
            <a:xfrm>
              <a:off x="2361800" y="2930600"/>
              <a:ext cx="171900" cy="171900"/>
            </a:xfrm>
            <a:prstGeom prst="ellipse">
              <a:avLst/>
            </a:prstGeom>
            <a:solidFill>
              <a:srgbClr val="FE1F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E1F1F"/>
                </a:solidFill>
              </a:endParaRPr>
            </a:p>
          </p:txBody>
        </p:sp>
        <p:sp>
          <p:nvSpPr>
            <p:cNvPr id="135" name="Google Shape;135;p24"/>
            <p:cNvSpPr/>
            <p:nvPr/>
          </p:nvSpPr>
          <p:spPr>
            <a:xfrm>
              <a:off x="2400050" y="2968850"/>
              <a:ext cx="95400" cy="95400"/>
            </a:xfrm>
            <a:prstGeom prst="ellipse">
              <a:avLst/>
            </a:prstGeom>
            <a:solidFill>
              <a:srgbClr val="5E0D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E1F1F"/>
                </a:solidFill>
              </a:endParaRPr>
            </a:p>
          </p:txBody>
        </p:sp>
      </p:grpSp>
      <p:grpSp>
        <p:nvGrpSpPr>
          <p:cNvPr id="138" name="Google Shape;138;p24"/>
          <p:cNvGrpSpPr/>
          <p:nvPr/>
        </p:nvGrpSpPr>
        <p:grpSpPr>
          <a:xfrm rot="5400000">
            <a:off x="353925" y="2588159"/>
            <a:ext cx="171900" cy="171900"/>
            <a:chOff x="2361800" y="2930600"/>
            <a:chExt cx="171900" cy="171900"/>
          </a:xfrm>
        </p:grpSpPr>
        <p:sp>
          <p:nvSpPr>
            <p:cNvPr id="139" name="Google Shape;139;p24"/>
            <p:cNvSpPr/>
            <p:nvPr/>
          </p:nvSpPr>
          <p:spPr>
            <a:xfrm>
              <a:off x="2361800" y="2930600"/>
              <a:ext cx="171900" cy="171900"/>
            </a:xfrm>
            <a:prstGeom prst="ellipse">
              <a:avLst/>
            </a:prstGeom>
            <a:solidFill>
              <a:srgbClr val="FE1F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E1F1F"/>
                </a:solidFill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>
              <a:off x="2400050" y="2968850"/>
              <a:ext cx="95400" cy="95400"/>
            </a:xfrm>
            <a:prstGeom prst="ellipse">
              <a:avLst/>
            </a:prstGeom>
            <a:solidFill>
              <a:srgbClr val="5E0D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E1F1F"/>
                </a:solidFill>
              </a:endParaRPr>
            </a:p>
          </p:txBody>
        </p:sp>
      </p:grpSp>
      <p:grpSp>
        <p:nvGrpSpPr>
          <p:cNvPr id="141" name="Google Shape;141;p24"/>
          <p:cNvGrpSpPr/>
          <p:nvPr/>
        </p:nvGrpSpPr>
        <p:grpSpPr>
          <a:xfrm rot="5400000">
            <a:off x="353925" y="3670863"/>
            <a:ext cx="171900" cy="171900"/>
            <a:chOff x="2361800" y="2930600"/>
            <a:chExt cx="171900" cy="171900"/>
          </a:xfrm>
        </p:grpSpPr>
        <p:sp>
          <p:nvSpPr>
            <p:cNvPr id="142" name="Google Shape;142;p24"/>
            <p:cNvSpPr/>
            <p:nvPr/>
          </p:nvSpPr>
          <p:spPr>
            <a:xfrm>
              <a:off x="2361800" y="2930600"/>
              <a:ext cx="171900" cy="171900"/>
            </a:xfrm>
            <a:prstGeom prst="ellipse">
              <a:avLst/>
            </a:prstGeom>
            <a:solidFill>
              <a:srgbClr val="FE1F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E1F1F"/>
                </a:solidFill>
              </a:endParaRPr>
            </a:p>
          </p:txBody>
        </p:sp>
        <p:sp>
          <p:nvSpPr>
            <p:cNvPr id="143" name="Google Shape;143;p24"/>
            <p:cNvSpPr/>
            <p:nvPr/>
          </p:nvSpPr>
          <p:spPr>
            <a:xfrm>
              <a:off x="2400050" y="2968850"/>
              <a:ext cx="95400" cy="95400"/>
            </a:xfrm>
            <a:prstGeom prst="ellipse">
              <a:avLst/>
            </a:prstGeom>
            <a:solidFill>
              <a:srgbClr val="5E0D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E1F1F"/>
                </a:solidFill>
              </a:endParaRPr>
            </a:p>
          </p:txBody>
        </p:sp>
      </p:grpSp>
      <p:sp>
        <p:nvSpPr>
          <p:cNvPr id="144" name="Google Shape;144;p24"/>
          <p:cNvSpPr txBox="1"/>
          <p:nvPr/>
        </p:nvSpPr>
        <p:spPr>
          <a:xfrm>
            <a:off x="618525" y="12555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AÇÃO 1 - 30 DIAS</a:t>
            </a:r>
            <a:endParaRPr sz="1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616875" y="250476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AÇÃO 2 - 60 DIAS</a:t>
            </a:r>
            <a:endParaRPr sz="1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616875" y="35874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AÇÃO 3 - 90 DIAS</a:t>
            </a:r>
            <a:endParaRPr sz="10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618525" y="1566775"/>
            <a:ext cx="6016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Criar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script padrão de atendimento PF e PJ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Criar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perguntas de qualificação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obrigatórias.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Implementar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coleta automática de contato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(nome + WhatsApp + e-mail).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Reduzir tempo de resposta com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SLA de 3 minutos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618525" y="2827802"/>
            <a:ext cx="6016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Implantar CRM real (Kommo CRM / HubSpot Free).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Criar catálogo digital único (PDF ou links organizados).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Treinamento de objeções + roleplays quinzenais.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618525" y="3892838"/>
            <a:ext cx="6016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Implementar funil completo para WhatsApp + Chatbot.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Criar automação de follow-up para início de safra.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Testar grupos de compra e campanhas específicas.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4616575" y="1925250"/>
            <a:ext cx="4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ESTRUTURA COMERCIAL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/>
          <p:nvPr/>
        </p:nvSpPr>
        <p:spPr>
          <a:xfrm>
            <a:off x="4729650" y="359725"/>
            <a:ext cx="20103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/>
        </p:nvSpPr>
        <p:spPr>
          <a:xfrm>
            <a:off x="337625" y="327575"/>
            <a:ext cx="70455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Estrutura C</a:t>
            </a:r>
            <a:r>
              <a:rPr lang="pt-BR" sz="33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omercial Atual - Equipe</a:t>
            </a:r>
            <a:endParaRPr sz="1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431400" y="951575"/>
            <a:ext cx="8572500" cy="3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Otávio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Atua como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gerente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comercial, na prática.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Responsável por treinar, estruturar processos, organizar materiais, repassar fluxos e acompanhar o desempenho.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Gustavo (SDR/Closer híbrido + Atendimento + Balcão)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Atende clientes PF e PJ no WhatsApp.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Recebe leads encaminhados por social media.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Realiza vendas e esclarecimento de dúvidas.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Atende clientes que vão até a “lojinha física”.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Jaine (Pós-venda + Operacional administrativo de pedidos)</a:t>
            </a:r>
            <a:b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Lança notas e pedidos.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Atende pedidos recorrentes dos restaurantes.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Faz parte do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pós-venda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mas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não desenvolve vendas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(atua mais como suporte).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Fernando &amp; Yasmin (Parceiros – Social Media / Atendimento inicial)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Atendem redes sociais (Insta, Facebook etc.).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Realizam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triagem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básica dos leads e repassam para Gustavo.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/>
        </p:nvSpPr>
        <p:spPr>
          <a:xfrm>
            <a:off x="337625" y="327575"/>
            <a:ext cx="70455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Visão Geral do Processo Comercial Atual</a:t>
            </a:r>
            <a:endParaRPr sz="33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31400" y="951575"/>
            <a:ext cx="85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337625" y="1037275"/>
            <a:ext cx="79263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 estrutura comercial da Saibai, embora funcional e com um produto de qualidade, ainda carece de processos e estratégias comerciais bem definidos. O modelo atual é reativo, fragmentado e dependente de algumas pessoas-chave para as vendas acontecerem.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Principais Deficiências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Falta de Estrutura Comercial: Não há um funil comercial bem definido nem um processo claro de abordagem, fechamento e pós-venda.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Dependência de Pessoal Chave: O Gustavo, por exemplo, exerce múltiplas funções (SDR, Closer, atendimento, loja física), criando um gargalo operacional.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Falta de Tecnologia: Não há um CRM ou sistema de gestão de vendas, o que gera desperdício de tempo e a falta de previsibilidade nas vendas.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Processos Não Padronizados: Não existem scripts comerciais, playbooks de vendas, ou qualquer tipo de documentação que possa ser replicada de forma eficiente e escalável.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337625" y="327575"/>
            <a:ext cx="78624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Mapeamento do Processo Comercial Atual</a:t>
            </a:r>
            <a:endParaRPr sz="1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431400" y="951575"/>
            <a:ext cx="85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337625" y="1037275"/>
            <a:ext cx="8358000" cy="3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Origem dos Leads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Instagram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Interações feitas manualmente, sem automatização.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WhatsApp Comercial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Comunicação direta com leads, principalmente feita pelo Gustavo, sem processos estruturados.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Indicação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Principalmente no B2B, onde os leads chegam por rede de contatos.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E-commerce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Canal emergente, mas ainda não totalmente explorado.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Qualificação de Leads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Triagem Manual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A triagem é feita diretamente pelo social media ou pelo Gustavo, mas não há critérios de qualificação claros.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Sem Registro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Não há registro centralizado das interações e, portanto, o histórico de cada lead se perde facilmente.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Sem Priorização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Não há uma metodologia para priorizar leads de acordo com seu potencial</a:t>
            </a:r>
            <a:r>
              <a:rPr lang="pt-BR" sz="1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 compra.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/>
        </p:nvSpPr>
        <p:spPr>
          <a:xfrm>
            <a:off x="337625" y="327575"/>
            <a:ext cx="78624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Mapeamento do Processo Comercial Atual</a:t>
            </a:r>
            <a:endParaRPr sz="1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431400" y="951575"/>
            <a:ext cx="85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337625" y="1037275"/>
            <a:ext cx="8358000" cy="43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Atendimento Comercial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 atendimento e a venda são realizados principalmente por Gustavo, que lida com múltiplas funções. Ele responde ao WhatsApp e à loja física, mas não há padronização no atendimento, o que resulta em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atendimentos de qualidade inconsistente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Processos de Venda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Proposta e Fechamento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Não existe um processo claro de fechamento de vendas. Gustavo apenas envia tabelas de preços e imagens, mas não há uma abordagem de venda estruturada que destaque a Saibai como uma marca premium.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Follow-up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Não há follow-up estruturado, o que impede que as oportunidades sejam trabalhadas adequadamente.</a:t>
            </a:r>
            <a:b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Materiais de Venda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Envio de imagens desconexas, sem storytelling ou sequência lógica, o que resulta em uma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experiência confusa para o cliente.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/>
        </p:nvSpPr>
        <p:spPr>
          <a:xfrm>
            <a:off x="337625" y="327575"/>
            <a:ext cx="78624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Maturidade Comercial (CHA)</a:t>
            </a:r>
            <a:endParaRPr sz="18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431400" y="951575"/>
            <a:ext cx="85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337625" y="1037275"/>
            <a:ext cx="8518800" cy="3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SDR e Closer (Gustavo)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Competência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Baixa.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Não há técnicas de vendas aplicadas, e as conversas seguem um formato de "suporte", não de venda ativa.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Habilidade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Média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 Tem conhecimento básico sobre o produto, mas não sabe como usar isso para vender de forma convincente.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Atitude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Boa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 Gustavo é proativo e educado, mas precisa de mais estrutura para ser efetivo.</a:t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Pós-venda (Jaine)</a:t>
            </a:r>
            <a:endParaRPr b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Competência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Alta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 Jaine é extremamente organizada no operacional, mas não tem foco em fidelização ou retenção de clientes.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Habilidade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Média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 Está muito focada no processo administrativo e não em criar experiências de valor para o cliente.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Atitude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Boa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. Cumpre sua função com competência, mas a falta de estratégia de retenção prejudica a experiência do cliente.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750" y="1245750"/>
            <a:ext cx="3290976" cy="3558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31"/>
          <p:cNvCxnSpPr>
            <a:endCxn id="203" idx="1"/>
          </p:cNvCxnSpPr>
          <p:nvPr/>
        </p:nvCxnSpPr>
        <p:spPr>
          <a:xfrm>
            <a:off x="3381100" y="3791925"/>
            <a:ext cx="888300" cy="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1"/>
          <p:cNvCxnSpPr/>
          <p:nvPr/>
        </p:nvCxnSpPr>
        <p:spPr>
          <a:xfrm>
            <a:off x="2802475" y="2708025"/>
            <a:ext cx="1407300" cy="3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31"/>
          <p:cNvCxnSpPr/>
          <p:nvPr/>
        </p:nvCxnSpPr>
        <p:spPr>
          <a:xfrm flipH="1" rot="10800000">
            <a:off x="2032675" y="1635938"/>
            <a:ext cx="21771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6" name="Google Shape;20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750" y="1245750"/>
            <a:ext cx="3290976" cy="355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4269400" y="1367150"/>
            <a:ext cx="324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Estratégico (onde ele deveria estar)</a:t>
            </a:r>
            <a:endParaRPr b="1"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Perspectiva ampla dos objetivos, foco no longo prazo</a:t>
            </a:r>
            <a:endParaRPr sz="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4269400" y="2475213"/>
            <a:ext cx="37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Tático Gestão Tática (onde ele REALMENTE se encaixa hoje)</a:t>
            </a:r>
            <a:endParaRPr b="1"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Iniciativas diretas e específicas, foco no médio prazo</a:t>
            </a:r>
            <a:endParaRPr sz="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4269400" y="3583275"/>
            <a:ext cx="329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Operacional (onde ele também atua hoje)</a:t>
            </a:r>
            <a:endParaRPr b="1"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Atividades do dia a dia, foco no curto prazo</a:t>
            </a:r>
            <a:endParaRPr sz="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353925" y="361775"/>
            <a:ext cx="324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NÍVEIS DE GESTÃO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/>
        </p:nvSpPr>
        <p:spPr>
          <a:xfrm>
            <a:off x="353925" y="361775"/>
            <a:ext cx="293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PLANO DE AÇÃO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/>
        </p:nvSpPr>
        <p:spPr>
          <a:xfrm>
            <a:off x="391500" y="1192125"/>
            <a:ext cx="8361000" cy="3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H1:</a:t>
            </a: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45 dias (Organização e Padronização)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🎯 Objetivo: </a:t>
            </a:r>
            <a:r>
              <a:rPr b="1" i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Criar estrutura mínima para previsibilidade comercial.</a:t>
            </a:r>
            <a:endParaRPr b="1" i="1" sz="1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 foco aqui é </a:t>
            </a:r>
            <a:r>
              <a:rPr b="1"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organizar o caos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documentar, padronizar e implantar os fundamentos.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1. Implantar CRM + Integração com o WhatsApp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2. Criar Fluxos de Resposta Rápida no WhatsApp (Atendimento PF)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3. Automação de E-commerce (Shopify) – Base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4. Atualização dos Materiais Comerciais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5. SLA de Atendimento Comercial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6. Treinamento de Atendimento Assistido por Automação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/>
        </p:nvSpPr>
        <p:spPr>
          <a:xfrm>
            <a:off x="353925" y="361775"/>
            <a:ext cx="293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PLANO DE AÇÃO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3"/>
          <p:cNvSpPr txBox="1"/>
          <p:nvPr/>
        </p:nvSpPr>
        <p:spPr>
          <a:xfrm>
            <a:off x="391500" y="1192125"/>
            <a:ext cx="83610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H2: 90 dias (</a:t>
            </a: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Eficiência, Conversão e Pós-Venda Automatizado</a:t>
            </a: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🎯 Objetivo: </a:t>
            </a:r>
            <a:r>
              <a:rPr b="1" i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Elevar conversão PF, iniciar máquina B2B e automatizar pós-venda.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1.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Fluxo de Follow-up Comercial Automatizado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2.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Pós-venda Automatizado (E-commerce + WhatsApp)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3.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Integração Social Media → Comercial via Automação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4.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Playbook Comercial + Playbook de Automação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5.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Reuniões de Gestão + KPI Automatizados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/>
        </p:nvSpPr>
        <p:spPr>
          <a:xfrm>
            <a:off x="353925" y="361775"/>
            <a:ext cx="293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PLANO DE AÇÃO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4"/>
          <p:cNvSpPr txBox="1"/>
          <p:nvPr/>
        </p:nvSpPr>
        <p:spPr>
          <a:xfrm>
            <a:off x="391500" y="1192125"/>
            <a:ext cx="83610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H3: 180 dias (</a:t>
            </a: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Escala Comercial, Safra e Personalização Automatizada</a:t>
            </a:r>
            <a:r>
              <a:rPr b="1" lang="pt-BR" sz="2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b="1" sz="23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🎯 Objetivo: </a:t>
            </a:r>
            <a:r>
              <a:rPr b="1" lang="pt-BR" sz="13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Escalar vendas PF + B2B e preparar a automação inteligente para início de safra.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1.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Máquina de Abertura da Safra (Automatizada)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2.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Automações Avançadas do E-commerce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3.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Pré-SDR Automatizado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4. </a:t>
            </a: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B2B Estruturado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5. Otávio começa a migrar mais para nível estratégico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/>
        </p:nvSpPr>
        <p:spPr>
          <a:xfrm>
            <a:off x="4616575" y="1925250"/>
            <a:ext cx="4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ESCOPO</a:t>
            </a: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COMERCIAL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36" name="Google Shape;23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5"/>
          <p:cNvSpPr/>
          <p:nvPr/>
        </p:nvSpPr>
        <p:spPr>
          <a:xfrm>
            <a:off x="4729650" y="359725"/>
            <a:ext cx="20103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353925" y="361775"/>
            <a:ext cx="77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CHA - SDR</a:t>
            </a:r>
            <a:endParaRPr sz="3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353925" y="1038875"/>
            <a:ext cx="36198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Competências: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Triagem e Qualificação de Leads.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Gestão de CRM e organização de dados.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Compreensão do Produto e Mercado.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Processos de Vendas e jornada do cliente.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Habilidades: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Comunicação Clara e Eficaz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Habilidade de Escuta Ativa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Gerenciamento de Tempo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Análise de Dados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4512943" y="1038875"/>
            <a:ext cx="3619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Atitudes: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Orientação para resultados e mentalidade de growth.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Proatividade.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Empatia.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Flexibilidade.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Resiliência.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Visão Estratégica.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Assumir responsabilidades.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7"/>
          <p:cNvSpPr txBox="1"/>
          <p:nvPr/>
        </p:nvSpPr>
        <p:spPr>
          <a:xfrm>
            <a:off x="353925" y="361775"/>
            <a:ext cx="77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KPI </a:t>
            </a: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- SDR</a:t>
            </a:r>
            <a:endParaRPr sz="3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353925" y="1038875"/>
            <a:ext cx="3619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Taxa de Conexão: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 que medir: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Percentual de respostas em relação ao volume de conversas iniciadas.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medir: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Dados do CRM para um B.I.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Fórmula: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Total de respostas / Total de conversas iniciadas x 100.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Meta: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A depender da meta de conversão porém, 10% a 20% é a média do mercado considerando múltiplas configurações de entrada.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4512943" y="1038875"/>
            <a:ext cx="3619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Taxa de oportunidades geradas: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 que medir: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Percentual de oportunidades qualificadas e interessadas mapeadas.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 medir: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Dados do CRM para o B.I.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Fórmula: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Total de conexões / Total de oportunidades x 100.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Meta: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A depender dos canais de aquisição, as métricas podem ir de 5% a 60%. Será necessário a geração de dados iniciais para definição da meta.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8"/>
          <p:cNvSpPr txBox="1"/>
          <p:nvPr/>
        </p:nvSpPr>
        <p:spPr>
          <a:xfrm>
            <a:off x="353925" y="361775"/>
            <a:ext cx="77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CHA - Closer</a:t>
            </a:r>
            <a:endParaRPr sz="3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353925" y="1038875"/>
            <a:ext cx="3619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ompetências: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Habilidade em negociação.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Gestão do ciclo de vendas.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Empatia comercial.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Análise de métricas do funil.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Habilidades: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Apresentação e pitch de vendas personalizados.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Gerenciamento de objeções complexas.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Elaboração de propostas comerciais detalhadas.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Relacionamento interpessoal para fidelização de clientes.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4512943" y="1038875"/>
            <a:ext cx="3619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Atitudes: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Orientação para resultados e mentalidade de growth.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Proatividade.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Empatia.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Flexibilidade.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Resiliência.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Visão Estratégica.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Assumir responsabilidades.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353925" y="361775"/>
            <a:ext cx="77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KPI</a:t>
            </a: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 - Diretor Comercial</a:t>
            </a:r>
            <a:endParaRPr sz="3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353925" y="1038875"/>
            <a:ext cx="3619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Revenue em Monetização: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que medir: Receita monetizada em clientes já existentes.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Como medir: Recompras de cursos ou outros produtos de clientes.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Fórmula: Receita total gerada através de recompras de clientes.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Meta: Modular conforme a meta de receita e monetização prevista dentro da esteira.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4512943" y="1038875"/>
            <a:ext cx="3619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Eficiência de funil: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que medir: Percentual de avanços entre as etapas do funil.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Como medir: CRM e B.I.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Fórmula: Número absoluto de leads da etapa a frente ÷ número absoluto de leads da etapa anterior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Meta: A modular.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0"/>
          <p:cNvSpPr txBox="1"/>
          <p:nvPr/>
        </p:nvSpPr>
        <p:spPr>
          <a:xfrm>
            <a:off x="353925" y="361775"/>
            <a:ext cx="77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KPI - Diretor Comercial</a:t>
            </a:r>
            <a:endParaRPr sz="3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6" name="Google Shape;276;p40"/>
          <p:cNvSpPr txBox="1"/>
          <p:nvPr/>
        </p:nvSpPr>
        <p:spPr>
          <a:xfrm>
            <a:off x="353925" y="1038875"/>
            <a:ext cx="3619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Meta de Receita Total (Total Revenue)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que medir: Atingimento da meta de receita estabelecida para o período (mensal, trimestral, anual).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Como medir: Comparar a receita total gerada pelo time de vendas em relação a meta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estabelecida.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Fórmula: (Receita gerada ÷ Meta de receita) x 100.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Meta: A modular.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277" name="Google Shape;277;p40"/>
          <p:cNvSpPr txBox="1"/>
          <p:nvPr/>
        </p:nvSpPr>
        <p:spPr>
          <a:xfrm>
            <a:off x="4512943" y="1038875"/>
            <a:ext cx="3619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Receita por Segmento (Revenue by Market Segment)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que medir: Contribuição de cada curso para a receita total.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Como medir: Relatórios segmentados do CRM e B.I.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Fórmula: Receita por segmento ÷ Receita total x 100.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Meta: Ajustada de acordo com a estratégia negócio (exemplo: 40% produto X, 30% produto Y, 30% produto Z).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/>
        </p:nvSpPr>
        <p:spPr>
          <a:xfrm>
            <a:off x="4616575" y="1925250"/>
            <a:ext cx="4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ROTINAS</a:t>
            </a:r>
            <a:b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 GESTÃO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83" name="Google Shape;28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1"/>
          <p:cNvSpPr/>
          <p:nvPr/>
        </p:nvSpPr>
        <p:spPr>
          <a:xfrm>
            <a:off x="4729650" y="359725"/>
            <a:ext cx="20103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2"/>
          <p:cNvSpPr txBox="1"/>
          <p:nvPr/>
        </p:nvSpPr>
        <p:spPr>
          <a:xfrm>
            <a:off x="353925" y="361775"/>
            <a:ext cx="77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Rotinas de gestão</a:t>
            </a:r>
            <a:endParaRPr sz="32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91" name="Google Shape;291;p42"/>
          <p:cNvSpPr txBox="1"/>
          <p:nvPr/>
        </p:nvSpPr>
        <p:spPr>
          <a:xfrm>
            <a:off x="353925" y="1038875"/>
            <a:ext cx="39918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Coaching técnico | 30 minutos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Objetivo: Acompanhamento do desempenho individual.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Frequência: Semanal.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Agenda: Sessões individuais de feedback entre enablement e vendedor para discutir desempenho, técnicas de vendas e estratégias de fechamento.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articipantes: Coordenador e Operação de Vendas.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 on 1 | 30 minutos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Objetivo: Acompanhamento do desempenho individual.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Frequência: Mensal.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Agenda: Sessões individuais de feedback entre líder e vendedor para discutir desempenho, metas e desenvolvimento.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Participantes: Liderança e Operação de Vendas.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292" name="Google Shape;292;p42"/>
          <p:cNvSpPr txBox="1"/>
          <p:nvPr/>
        </p:nvSpPr>
        <p:spPr>
          <a:xfrm>
            <a:off x="4345715" y="1038875"/>
            <a:ext cx="3991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Monthly Gestão | 1 hora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Objetivo: Revisão e alinhamento estratégico das iniciativas e indicadores.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Frequência: Mensal.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Agenda: Análise de resultados e eficiência de funil, revisão de metas, alinhamento de estratégias e priorização.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Participantes: Todas as lideranças.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Review Quarter | 1 hora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Objetivo: Análise geral de todas as verticais no quarter.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Frequência: Trimestral.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Agenda: Análise dos resultados trimestrais, ajuste de metas e estratégias, identificação de melhorias em pessoas, processos e tecnologia.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Participantes: Todas as lideranças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/>
        </p:nvSpPr>
        <p:spPr>
          <a:xfrm>
            <a:off x="4616575" y="1925250"/>
            <a:ext cx="4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DEFINIÇÃO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 FUNIL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98" name="Google Shape;29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3"/>
          <p:cNvSpPr/>
          <p:nvPr/>
        </p:nvSpPr>
        <p:spPr>
          <a:xfrm>
            <a:off x="4729650" y="359725"/>
            <a:ext cx="20103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4" title="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325" y="643101"/>
            <a:ext cx="6853350" cy="258004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 txBox="1"/>
          <p:nvPr/>
        </p:nvSpPr>
        <p:spPr>
          <a:xfrm>
            <a:off x="1292950" y="1099153"/>
            <a:ext cx="1284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Marketing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Google Shape;306;p44"/>
          <p:cNvSpPr txBox="1"/>
          <p:nvPr/>
        </p:nvSpPr>
        <p:spPr>
          <a:xfrm>
            <a:off x="1336384" y="1819512"/>
            <a:ext cx="1197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Vendas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44"/>
          <p:cNvSpPr txBox="1"/>
          <p:nvPr/>
        </p:nvSpPr>
        <p:spPr>
          <a:xfrm>
            <a:off x="1336384" y="2557217"/>
            <a:ext cx="11976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Vendas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44"/>
          <p:cNvSpPr txBox="1"/>
          <p:nvPr/>
        </p:nvSpPr>
        <p:spPr>
          <a:xfrm>
            <a:off x="6118548" y="1171758"/>
            <a:ext cx="1197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9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MQL</a:t>
            </a:r>
            <a:endParaRPr b="1" sz="109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44"/>
          <p:cNvSpPr txBox="1"/>
          <p:nvPr/>
        </p:nvSpPr>
        <p:spPr>
          <a:xfrm>
            <a:off x="6118548" y="1822653"/>
            <a:ext cx="11976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69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Propostas enviadas</a:t>
            </a:r>
            <a:endParaRPr b="1" sz="969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44"/>
          <p:cNvSpPr txBox="1"/>
          <p:nvPr/>
        </p:nvSpPr>
        <p:spPr>
          <a:xfrm>
            <a:off x="6118548" y="2256616"/>
            <a:ext cx="1197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4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Negociações</a:t>
            </a:r>
            <a:endParaRPr b="1" sz="84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44"/>
          <p:cNvSpPr txBox="1"/>
          <p:nvPr/>
        </p:nvSpPr>
        <p:spPr>
          <a:xfrm>
            <a:off x="6118548" y="2621126"/>
            <a:ext cx="1197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4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Vendas</a:t>
            </a:r>
            <a:endParaRPr b="1" sz="84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44"/>
          <p:cNvSpPr txBox="1"/>
          <p:nvPr/>
        </p:nvSpPr>
        <p:spPr>
          <a:xfrm>
            <a:off x="6118548" y="1525147"/>
            <a:ext cx="1197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9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SQL</a:t>
            </a:r>
            <a:endParaRPr b="1" sz="109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44"/>
          <p:cNvSpPr txBox="1"/>
          <p:nvPr/>
        </p:nvSpPr>
        <p:spPr>
          <a:xfrm>
            <a:off x="6118548" y="824632"/>
            <a:ext cx="1197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775" lIns="110775" spcFirstLastPara="1" rIns="110775" wrap="square" tIns="1107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9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Lead</a:t>
            </a:r>
            <a:endParaRPr b="1" sz="109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5"/>
          <p:cNvSpPr txBox="1"/>
          <p:nvPr/>
        </p:nvSpPr>
        <p:spPr>
          <a:xfrm>
            <a:off x="353925" y="361775"/>
            <a:ext cx="607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MQL - Marketing Qualified Lead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20" name="Google Shape;320;p45"/>
          <p:cNvSpPr txBox="1"/>
          <p:nvPr/>
        </p:nvSpPr>
        <p:spPr>
          <a:xfrm>
            <a:off x="353925" y="1122750"/>
            <a:ext cx="7062600" cy="359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Lead preencheu o formulário demonstrando interesse no serviço oferecido e teve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essa demanda confirmada pelo SDR.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Possíveis campos no formulário: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CNPJ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Quantidade de funcionários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Região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Volume compras mensal (R$)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Já tem um fornecedor atualmente?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Essa informação pode ser preenchida diretamente em um campo de seleção no formulário de aquisição. Ou seja, o SDR inicia o atendimento com esses dados em mãos para confirmação.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6"/>
          <p:cNvSpPr txBox="1"/>
          <p:nvPr/>
        </p:nvSpPr>
        <p:spPr>
          <a:xfrm>
            <a:off x="353925" y="361775"/>
            <a:ext cx="690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SQL - Sales Qualified Lead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353925" y="1371150"/>
            <a:ext cx="6283800" cy="30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Lead engajou no atendimento e o SDR pôde mapear as seguintes informações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Entendimento e contextualização sobre o modelo de negócios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Necessidade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Orçamento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Timing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Observações: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SDR deve fazer o handoff do lead para o consultor com todas essas informações já mapeadas e registradas no CRM.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handoff precisa ser comunicado de forma eficiente para o cliente e com alinhamento de expectativas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/>
          <p:nvPr/>
        </p:nvSpPr>
        <p:spPr>
          <a:xfrm>
            <a:off x="5386650" y="1711700"/>
            <a:ext cx="2843400" cy="418200"/>
          </a:xfrm>
          <a:prstGeom prst="roundRect">
            <a:avLst>
              <a:gd fmla="val 50000" name="adj"/>
            </a:avLst>
          </a:prstGeom>
          <a:solidFill>
            <a:srgbClr val="C5151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10.000 | Leads</a:t>
            </a:r>
            <a:endParaRPr sz="10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3" name="Google Shape;333;p47"/>
          <p:cNvSpPr/>
          <p:nvPr/>
        </p:nvSpPr>
        <p:spPr>
          <a:xfrm>
            <a:off x="5386650" y="2190825"/>
            <a:ext cx="2410200" cy="418200"/>
          </a:xfrm>
          <a:prstGeom prst="roundRect">
            <a:avLst>
              <a:gd fmla="val 50000" name="adj"/>
            </a:avLst>
          </a:prstGeom>
          <a:solidFill>
            <a:srgbClr val="C5151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3.500 | MQL</a:t>
            </a:r>
            <a:endParaRPr sz="10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4" name="Google Shape;334;p47"/>
          <p:cNvSpPr/>
          <p:nvPr/>
        </p:nvSpPr>
        <p:spPr>
          <a:xfrm>
            <a:off x="5386650" y="2669950"/>
            <a:ext cx="1986900" cy="418200"/>
          </a:xfrm>
          <a:prstGeom prst="roundRect">
            <a:avLst>
              <a:gd fmla="val 50000" name="adj"/>
            </a:avLst>
          </a:prstGeom>
          <a:solidFill>
            <a:srgbClr val="C5151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2.275 | Conexão</a:t>
            </a:r>
            <a:endParaRPr sz="10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5" name="Google Shape;335;p47"/>
          <p:cNvSpPr txBox="1"/>
          <p:nvPr/>
        </p:nvSpPr>
        <p:spPr>
          <a:xfrm>
            <a:off x="4168275" y="2500500"/>
            <a:ext cx="107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55% - 65%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4690786" y="1997514"/>
            <a:ext cx="52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35%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37" name="Google Shape;337;p47"/>
          <p:cNvSpPr/>
          <p:nvPr/>
        </p:nvSpPr>
        <p:spPr>
          <a:xfrm>
            <a:off x="5245754" y="1912525"/>
            <a:ext cx="141000" cy="481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38" name="Google Shape;338;p47"/>
          <p:cNvSpPr/>
          <p:nvPr/>
        </p:nvSpPr>
        <p:spPr>
          <a:xfrm>
            <a:off x="5245754" y="2393691"/>
            <a:ext cx="141000" cy="481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39" name="Google Shape;339;p47"/>
          <p:cNvSpPr/>
          <p:nvPr/>
        </p:nvSpPr>
        <p:spPr>
          <a:xfrm>
            <a:off x="5386650" y="3149075"/>
            <a:ext cx="1737300" cy="418200"/>
          </a:xfrm>
          <a:prstGeom prst="roundRect">
            <a:avLst>
              <a:gd fmla="val 50000" name="adj"/>
            </a:avLst>
          </a:prstGeom>
          <a:solidFill>
            <a:srgbClr val="C5151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1.365 | SQL</a:t>
            </a:r>
            <a:endParaRPr sz="10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40" name="Google Shape;340;p47"/>
          <p:cNvSpPr/>
          <p:nvPr/>
        </p:nvSpPr>
        <p:spPr>
          <a:xfrm>
            <a:off x="5386650" y="3628200"/>
            <a:ext cx="1551300" cy="418200"/>
          </a:xfrm>
          <a:prstGeom prst="roundRect">
            <a:avLst>
              <a:gd fmla="val 50000" name="adj"/>
            </a:avLst>
          </a:prstGeom>
          <a:solidFill>
            <a:srgbClr val="C5151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1023 | Negociações</a:t>
            </a:r>
            <a:endParaRPr sz="10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41" name="Google Shape;341;p47"/>
          <p:cNvSpPr/>
          <p:nvPr/>
        </p:nvSpPr>
        <p:spPr>
          <a:xfrm>
            <a:off x="5386650" y="4107325"/>
            <a:ext cx="1156800" cy="418200"/>
          </a:xfrm>
          <a:prstGeom prst="roundRect">
            <a:avLst>
              <a:gd fmla="val 50000" name="adj"/>
            </a:avLst>
          </a:prstGeom>
          <a:solidFill>
            <a:srgbClr val="C5151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409 | Vendas</a:t>
            </a:r>
            <a:endParaRPr sz="10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42" name="Google Shape;342;p47"/>
          <p:cNvSpPr/>
          <p:nvPr/>
        </p:nvSpPr>
        <p:spPr>
          <a:xfrm>
            <a:off x="5245754" y="2877994"/>
            <a:ext cx="141000" cy="481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5245754" y="3362297"/>
            <a:ext cx="141000" cy="481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44" name="Google Shape;344;p47"/>
          <p:cNvSpPr/>
          <p:nvPr/>
        </p:nvSpPr>
        <p:spPr>
          <a:xfrm>
            <a:off x="5245754" y="3846600"/>
            <a:ext cx="141000" cy="481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4168150" y="2983250"/>
            <a:ext cx="107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45% - 60%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4121107" y="3467550"/>
            <a:ext cx="112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55% - 75%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4088958" y="3951850"/>
            <a:ext cx="115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40% - 30%</a:t>
            </a:r>
            <a:endParaRPr sz="9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353925" y="1622400"/>
            <a:ext cx="3266700" cy="180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Variáveis e Hipóteses: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X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X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X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X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49" name="Google Shape;349;p47"/>
          <p:cNvSpPr txBox="1"/>
          <p:nvPr/>
        </p:nvSpPr>
        <p:spPr>
          <a:xfrm>
            <a:off x="353925" y="361775"/>
            <a:ext cx="434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CONTROLE DE MÉTRICAS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50" name="Google Shape;35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7"/>
          <p:cNvSpPr txBox="1"/>
          <p:nvPr/>
        </p:nvSpPr>
        <p:spPr>
          <a:xfrm>
            <a:off x="353925" y="1122750"/>
            <a:ext cx="271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Comercial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/>
        </p:nvSpPr>
        <p:spPr>
          <a:xfrm>
            <a:off x="4616575" y="1925250"/>
            <a:ext cx="4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PREMISSAS COMERCIAIS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57" name="Google Shape;35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8"/>
          <p:cNvSpPr/>
          <p:nvPr/>
        </p:nvSpPr>
        <p:spPr>
          <a:xfrm>
            <a:off x="4729650" y="359725"/>
            <a:ext cx="20103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9"/>
          <p:cNvSpPr txBox="1"/>
          <p:nvPr/>
        </p:nvSpPr>
        <p:spPr>
          <a:xfrm>
            <a:off x="353925" y="361775"/>
            <a:ext cx="690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PREMISSAS PARA O TIME COMERCIAL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65" name="Google Shape;365;p49"/>
          <p:cNvSpPr txBox="1"/>
          <p:nvPr/>
        </p:nvSpPr>
        <p:spPr>
          <a:xfrm>
            <a:off x="353925" y="1166838"/>
            <a:ext cx="7778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Preservação da cordialidade e profissionalismo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◆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Evitar apelidos e intimidade forçada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◆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Atenção à escrita correta do nome do lead/cliente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◆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Atenção à gramática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Personalização do atendimento baseado nas necessidades e limitações dos leads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◆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Escolha do canal ideal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◆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Escolha dos dias/horários ideais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◆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Adaptação da comunicação de acordo com o nível de consciência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Evitar envio de informações em massa -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conduza cada atendimento com calma, garantind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o 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que as informações estão sendo gradualmente absorvidas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Evitar envio de muitas mensagens seguidas, isso pode afastar o lead e dificultar a conexão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Evitar envio de áudios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- caso essa estratégia seja necessária, solicitar a permissão antes do envio e prezar pelo menor tempo de áudio possível, prezando a agilidade e a didática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Utilizar WhatsApp com conta comercial, imagem de perfil visível para todos, descrição estratégica, e nome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que gere fácil identificação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Sempre </a:t>
            </a: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contextualizar o lead e alinhar expectativas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Agendamento de reuniões para esclarecimento e contextualização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sobre como o serviço é realizado e para apresentação de proposta, principalmente para leads com nível baixo de consciência.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0"/>
          <p:cNvSpPr txBox="1"/>
          <p:nvPr/>
        </p:nvSpPr>
        <p:spPr>
          <a:xfrm>
            <a:off x="487875" y="549075"/>
            <a:ext cx="690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CONSTRUÇÃO DE UMA DOCUMENTAÇÃO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72" name="Google Shape;372;p50"/>
          <p:cNvSpPr txBox="1"/>
          <p:nvPr/>
        </p:nvSpPr>
        <p:spPr>
          <a:xfrm>
            <a:off x="487875" y="1354138"/>
            <a:ext cx="777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Centralização de todos os dados, histórico, práticas validadas, acessos rotinas e processos.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Além de acelerar o processo de aprendizagem de novos vendedores na parte técnica e na parte cultural, permite a melhoria contínua dos processos.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Recomendação de ferramenta: Notion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1"/>
          <p:cNvSpPr txBox="1"/>
          <p:nvPr/>
        </p:nvSpPr>
        <p:spPr>
          <a:xfrm>
            <a:off x="353925" y="361775"/>
            <a:ext cx="690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O QUE ANALISAR NO COMERCIAL?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aphicFrame>
        <p:nvGraphicFramePr>
          <p:cNvPr id="379" name="Google Shape;379;p51"/>
          <p:cNvGraphicFramePr/>
          <p:nvPr/>
        </p:nvGraphicFramePr>
        <p:xfrm>
          <a:off x="468575" y="110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{F61D2405-9474-449A-9A8B-541D3B844CAE}</a:tableStyleId>
              </a:tblPr>
              <a:tblGrid>
                <a:gridCol w="327605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Indicadores</a:t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Leads novos</a:t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Conexões novas</a:t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de conexão</a:t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Follows - up</a:t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Conexão com os follows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de Conexão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MQL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de MQL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MQL X SQL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Propostas enviadas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de propostas enviadas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Negociações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de Negociações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Vendas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de conversão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Descartados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show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Taxa de descartados</a:t>
                      </a:r>
                      <a:endParaRPr sz="800">
                        <a:solidFill>
                          <a:schemeClr val="lt1"/>
                        </a:solidFill>
                        <a:latin typeface="Inter ExtraLight"/>
                        <a:ea typeface="Inter ExtraLight"/>
                        <a:cs typeface="Inter ExtraLight"/>
                        <a:sym typeface="Inter ExtraLight"/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1514"/>
                    </a:solidFill>
                  </a:tcPr>
                </a:tc>
              </a:tr>
            </a:tbl>
          </a:graphicData>
        </a:graphic>
      </p:graphicFrame>
      <p:sp>
        <p:nvSpPr>
          <p:cNvPr id="380" name="Google Shape;380;p51"/>
          <p:cNvSpPr/>
          <p:nvPr/>
        </p:nvSpPr>
        <p:spPr>
          <a:xfrm>
            <a:off x="4506900" y="2397275"/>
            <a:ext cx="2953800" cy="1026300"/>
          </a:xfrm>
          <a:prstGeom prst="roundRect">
            <a:avLst>
              <a:gd fmla="val 4193" name="adj"/>
            </a:avLst>
          </a:prstGeom>
          <a:solidFill>
            <a:srgbClr val="000000">
              <a:alpha val="43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META </a:t>
            </a:r>
            <a:r>
              <a:rPr b="1" lang="pt-BR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vs. </a:t>
            </a:r>
            <a:r>
              <a:rPr b="1" lang="pt-BR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REALIZADO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2"/>
          <p:cNvSpPr txBox="1"/>
          <p:nvPr/>
        </p:nvSpPr>
        <p:spPr>
          <a:xfrm>
            <a:off x="353925" y="361775"/>
            <a:ext cx="716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COMO CONSTRUIR O FLUXO DE CADÊNCIA?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87" name="Google Shape;387;p52"/>
          <p:cNvSpPr txBox="1"/>
          <p:nvPr/>
        </p:nvSpPr>
        <p:spPr>
          <a:xfrm>
            <a:off x="353925" y="1166838"/>
            <a:ext cx="7778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AutoNum type="arabicPeriod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Determine a quantidade de follows, uma boa prática é iniciar com 5 pontos de contatos.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AutoNum type="arabicPeriod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Faça várias versões de follow-up e abordagens para serem testadas em paralelo.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AutoNum type="arabicPeriod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Diversifique os canais com propensão de conexão com os leads como whatsapp e ligação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AutoNum type="arabicPeriod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Diversifique os horários das tentativas de contato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AutoNum type="arabicPeriod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Teste por pelo menos 15 dias metrificando a quantidade de respostas de cada follow e abordagem melhores horários para ligação e envio em massa de mensagens.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Bônus: como construir um bom follow-up por WhatsApp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Construa uma Headline.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I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nsira</a:t>
            </a: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 um conteúdo breve e relevante ligado a Headline.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ExtraLight"/>
              <a:buChar char="➔"/>
            </a:pPr>
            <a:r>
              <a:rPr lang="pt-BR" sz="12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Faça uma chamada para ação.</a:t>
            </a:r>
            <a:endParaRPr sz="12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3"/>
          <p:cNvSpPr/>
          <p:nvPr/>
        </p:nvSpPr>
        <p:spPr>
          <a:xfrm>
            <a:off x="256100" y="1276050"/>
            <a:ext cx="7755900" cy="2591400"/>
          </a:xfrm>
          <a:prstGeom prst="roundRect">
            <a:avLst>
              <a:gd fmla="val 4193" name="adj"/>
            </a:avLst>
          </a:prstGeom>
          <a:solidFill>
            <a:srgbClr val="000000">
              <a:alpha val="43640"/>
            </a:srgbClr>
          </a:solidFill>
          <a:ln cap="flat" cmpd="sng" w="9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8303">
              <a:srgbClr val="000000"/>
            </a:outerShdw>
          </a:effectLst>
        </p:spPr>
        <p:txBody>
          <a:bodyPr anchorCtr="0" anchor="ctr" bIns="87850" lIns="87850" spcFirstLastPara="1" rIns="87850" wrap="square" tIns="8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1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393" name="Google Shape;39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3"/>
          <p:cNvSpPr txBox="1"/>
          <p:nvPr/>
        </p:nvSpPr>
        <p:spPr>
          <a:xfrm>
            <a:off x="353925" y="361775"/>
            <a:ext cx="716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MENSURAÇÃO DE RESULTADOS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95" name="Google Shape;39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42" y="1439614"/>
            <a:ext cx="7402639" cy="226413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3">
            <a:hlinkClick r:id="rId6"/>
          </p:cNvPr>
          <p:cNvSpPr/>
          <p:nvPr/>
        </p:nvSpPr>
        <p:spPr>
          <a:xfrm>
            <a:off x="5762175" y="508713"/>
            <a:ext cx="1882200" cy="387000"/>
          </a:xfrm>
          <a:prstGeom prst="roundRect">
            <a:avLst>
              <a:gd fmla="val 16667" name="adj"/>
            </a:avLst>
          </a:prstGeom>
          <a:solidFill>
            <a:srgbClr val="000000">
              <a:alpha val="43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/>
          <p:nvPr/>
        </p:nvSpPr>
        <p:spPr>
          <a:xfrm>
            <a:off x="4616575" y="1925250"/>
            <a:ext cx="4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STACK DE</a:t>
            </a:r>
            <a:b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pt-BR" sz="3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FERRAMENTAS</a:t>
            </a:r>
            <a:endParaRPr sz="3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402" name="Google Shape;40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4"/>
          <p:cNvSpPr/>
          <p:nvPr/>
        </p:nvSpPr>
        <p:spPr>
          <a:xfrm>
            <a:off x="4729650" y="359725"/>
            <a:ext cx="2010300" cy="235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DIAGNÓSTICO  </a:t>
            </a:r>
            <a:r>
              <a:rPr b="1" lang="pt-BR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5"/>
          <p:cNvSpPr txBox="1"/>
          <p:nvPr/>
        </p:nvSpPr>
        <p:spPr>
          <a:xfrm>
            <a:off x="496325" y="388575"/>
            <a:ext cx="427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KOMMO CRM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410" name="Google Shape;410;p55"/>
          <p:cNvPicPr preferRelativeResize="0"/>
          <p:nvPr/>
        </p:nvPicPr>
        <p:blipFill rotWithShape="1">
          <a:blip r:embed="rId5">
            <a:alphaModFix/>
          </a:blip>
          <a:srcRect b="14288" l="0" r="0" t="0"/>
          <a:stretch/>
        </p:blipFill>
        <p:spPr>
          <a:xfrm>
            <a:off x="496324" y="1286763"/>
            <a:ext cx="7710024" cy="3135601"/>
          </a:xfrm>
          <a:prstGeom prst="rect">
            <a:avLst/>
          </a:prstGeom>
          <a:solidFill>
            <a:srgbClr val="000000">
              <a:alpha val="43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9050">
              <a:srgbClr val="000000"/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/>
        </p:nvSpPr>
        <p:spPr>
          <a:xfrm>
            <a:off x="504475" y="747813"/>
            <a:ext cx="13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Reunião de Kick-Off</a:t>
            </a:r>
            <a:endParaRPr b="1" sz="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56"/>
          <p:cNvSpPr/>
          <p:nvPr/>
        </p:nvSpPr>
        <p:spPr>
          <a:xfrm flipH="1">
            <a:off x="504475" y="1012188"/>
            <a:ext cx="1512900" cy="307800"/>
          </a:xfrm>
          <a:prstGeom prst="parallelogram">
            <a:avLst>
              <a:gd fmla="val 46808" name="adj"/>
            </a:avLst>
          </a:prstGeom>
          <a:solidFill>
            <a:srgbClr val="ED1B18">
              <a:alpha val="51250"/>
            </a:srgbClr>
          </a:solidFill>
          <a:ln cap="flat" cmpd="sng" w="9525">
            <a:solidFill>
              <a:srgbClr val="C515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Semana 1</a:t>
            </a:r>
            <a:endParaRPr sz="9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17" name="Google Shape;417;p56"/>
          <p:cNvSpPr txBox="1"/>
          <p:nvPr/>
        </p:nvSpPr>
        <p:spPr>
          <a:xfrm>
            <a:off x="504475" y="1516738"/>
            <a:ext cx="13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Pesquisa de Mercado</a:t>
            </a:r>
            <a:endParaRPr b="1" sz="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56"/>
          <p:cNvSpPr/>
          <p:nvPr/>
        </p:nvSpPr>
        <p:spPr>
          <a:xfrm flipH="1">
            <a:off x="504475" y="1781113"/>
            <a:ext cx="1512900" cy="307800"/>
          </a:xfrm>
          <a:prstGeom prst="parallelogram">
            <a:avLst>
              <a:gd fmla="val 46808" name="adj"/>
            </a:avLst>
          </a:prstGeom>
          <a:solidFill>
            <a:srgbClr val="ED1B18">
              <a:alpha val="51250"/>
            </a:srgbClr>
          </a:solidFill>
          <a:ln cap="flat" cmpd="sng" w="9525">
            <a:solidFill>
              <a:srgbClr val="C515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Semana 2</a:t>
            </a:r>
            <a:endParaRPr sz="9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19" name="Google Shape;419;p56"/>
          <p:cNvSpPr txBox="1"/>
          <p:nvPr/>
        </p:nvSpPr>
        <p:spPr>
          <a:xfrm>
            <a:off x="504475" y="2285663"/>
            <a:ext cx="13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Diagnóstico de Mkt</a:t>
            </a:r>
            <a:endParaRPr b="1" sz="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56"/>
          <p:cNvSpPr/>
          <p:nvPr/>
        </p:nvSpPr>
        <p:spPr>
          <a:xfrm flipH="1">
            <a:off x="504475" y="2550038"/>
            <a:ext cx="1512900" cy="307800"/>
          </a:xfrm>
          <a:prstGeom prst="parallelogram">
            <a:avLst>
              <a:gd fmla="val 46808" name="adj"/>
            </a:avLst>
          </a:prstGeom>
          <a:solidFill>
            <a:srgbClr val="ED1B18">
              <a:alpha val="51250"/>
            </a:srgbClr>
          </a:solidFill>
          <a:ln cap="flat" cmpd="sng" w="9525">
            <a:solidFill>
              <a:srgbClr val="C515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Semana 3</a:t>
            </a:r>
            <a:endParaRPr sz="9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21" name="Google Shape;421;p56"/>
          <p:cNvSpPr txBox="1"/>
          <p:nvPr/>
        </p:nvSpPr>
        <p:spPr>
          <a:xfrm>
            <a:off x="504475" y="3054588"/>
            <a:ext cx="13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Diagnóstico de Vendas</a:t>
            </a:r>
            <a:endParaRPr b="1"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56"/>
          <p:cNvSpPr/>
          <p:nvPr/>
        </p:nvSpPr>
        <p:spPr>
          <a:xfrm flipH="1">
            <a:off x="504475" y="3318963"/>
            <a:ext cx="1512900" cy="307800"/>
          </a:xfrm>
          <a:prstGeom prst="parallelogram">
            <a:avLst>
              <a:gd fmla="val 46808" name="adj"/>
            </a:avLst>
          </a:prstGeom>
          <a:solidFill>
            <a:srgbClr val="FE1F1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Semana 4</a:t>
            </a:r>
            <a:endParaRPr b="1"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56"/>
          <p:cNvSpPr txBox="1"/>
          <p:nvPr/>
        </p:nvSpPr>
        <p:spPr>
          <a:xfrm>
            <a:off x="504475" y="3823513"/>
            <a:ext cx="13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Plano de Mkt e Vendas</a:t>
            </a:r>
            <a:endParaRPr b="1" sz="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56"/>
          <p:cNvSpPr/>
          <p:nvPr/>
        </p:nvSpPr>
        <p:spPr>
          <a:xfrm flipH="1">
            <a:off x="504475" y="4087888"/>
            <a:ext cx="1512900" cy="307800"/>
          </a:xfrm>
          <a:prstGeom prst="parallelogram">
            <a:avLst>
              <a:gd fmla="val 46808" name="adj"/>
            </a:avLst>
          </a:prstGeom>
          <a:solidFill>
            <a:srgbClr val="ED1B18">
              <a:alpha val="51250"/>
            </a:srgbClr>
          </a:solidFill>
          <a:ln cap="flat" cmpd="sng" w="9525">
            <a:solidFill>
              <a:srgbClr val="C515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Semana 5</a:t>
            </a:r>
            <a:endParaRPr sz="9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25" name="Google Shape;425;p56"/>
          <p:cNvPicPr preferRelativeResize="0"/>
          <p:nvPr/>
        </p:nvPicPr>
        <p:blipFill rotWithShape="1">
          <a:blip r:embed="rId4">
            <a:alphaModFix/>
          </a:blip>
          <a:srcRect b="32501" l="0" r="0" t="33999"/>
          <a:stretch/>
        </p:blipFill>
        <p:spPr>
          <a:xfrm flipH="1">
            <a:off x="2041825" y="3318979"/>
            <a:ext cx="735922" cy="24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6"/>
          <p:cNvSpPr/>
          <p:nvPr/>
        </p:nvSpPr>
        <p:spPr>
          <a:xfrm>
            <a:off x="4172450" y="1698850"/>
            <a:ext cx="4338300" cy="2697000"/>
          </a:xfrm>
          <a:prstGeom prst="roundRect">
            <a:avLst>
              <a:gd fmla="val 4193" name="adj"/>
            </a:avLst>
          </a:prstGeom>
          <a:solidFill>
            <a:srgbClr val="000000">
              <a:alpha val="43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Compreensão do Funil de Vendas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pt-BR" sz="10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Você entendeu a fundo como funciona o funil e viu na prática como ele realmente está dentro da sua empresa</a:t>
            </a:r>
            <a:endParaRPr sz="10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Aprofundamento do Escopo Comercial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b="1" lang="pt-BR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pt-BR" sz="10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Viu as diferentes funções comerciais que existem e o que cada uma é responsável dentro de um sistema de vendas eficiente</a:t>
            </a:r>
            <a:endParaRPr sz="10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428" name="Google Shape;428;p56"/>
          <p:cNvSpPr txBox="1"/>
          <p:nvPr/>
        </p:nvSpPr>
        <p:spPr>
          <a:xfrm>
            <a:off x="4946875" y="361775"/>
            <a:ext cx="3672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 QUE ACONTECEU ESSA SEMANA</a:t>
            </a:r>
            <a:endParaRPr sz="360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7"/>
          <p:cNvSpPr txBox="1"/>
          <p:nvPr/>
        </p:nvSpPr>
        <p:spPr>
          <a:xfrm>
            <a:off x="505750" y="361775"/>
            <a:ext cx="3882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O QUE VAMOS VER NA SEMANA QUE VEM?</a:t>
            </a:r>
            <a:endParaRPr sz="3600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34" name="Google Shape;434;p57"/>
          <p:cNvSpPr/>
          <p:nvPr/>
        </p:nvSpPr>
        <p:spPr>
          <a:xfrm>
            <a:off x="505750" y="1709325"/>
            <a:ext cx="3708900" cy="2905200"/>
          </a:xfrm>
          <a:prstGeom prst="roundRect">
            <a:avLst>
              <a:gd fmla="val 4193" name="adj"/>
            </a:avLst>
          </a:prstGeom>
          <a:solidFill>
            <a:srgbClr val="000000">
              <a:alpha val="43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Modelo de GTM</a:t>
            </a:r>
            <a:r>
              <a:rPr b="1" lang="pt-BR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ExtraLight"/>
              <a:buChar char="➔"/>
            </a:pPr>
            <a:r>
              <a:rPr lang="pt-BR" sz="1100">
                <a:solidFill>
                  <a:srgbClr val="FFFFFF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Qual a melhor estratégia para sua empresa?</a:t>
            </a:r>
            <a:endParaRPr sz="1100">
              <a:solidFill>
                <a:srgbClr val="FFFFFF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Guia de Posicionamento</a:t>
            </a: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ExtraLight"/>
              <a:buChar char="➔"/>
            </a:pP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Seu Manual de Copy Personalizado</a:t>
            </a:r>
            <a:endParaRPr sz="11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Proposta de Operacionalização</a:t>
            </a:r>
            <a:r>
              <a:rPr b="1" lang="pt-BR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ExtraLight"/>
              <a:buChar char="➔"/>
            </a:pPr>
            <a:r>
              <a:rPr lang="pt-BR" sz="11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rPr>
              <a:t>Saiba como a V4 pode e vai te ajudar a ter e executar tudo que você ficou sabendo ao longo do Diagnóstico</a:t>
            </a:r>
            <a:endParaRPr sz="1100">
              <a:solidFill>
                <a:schemeClr val="lt1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435" name="Google Shape;43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2526" y="4742410"/>
            <a:ext cx="942951" cy="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8"/>
          <p:cNvSpPr txBox="1"/>
          <p:nvPr/>
        </p:nvSpPr>
        <p:spPr>
          <a:xfrm>
            <a:off x="449425" y="1118025"/>
            <a:ext cx="56010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WELCOME TO V4 COMPANY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OBRIGADO POR </a:t>
            </a:r>
            <a:b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</a:br>
            <a:r>
              <a:rPr lang="pt-BR" sz="55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ABRIR AS PORTAS PARA A V4 COMPANY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1" name="Google Shape;44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51" y="3771621"/>
            <a:ext cx="1156899" cy="3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