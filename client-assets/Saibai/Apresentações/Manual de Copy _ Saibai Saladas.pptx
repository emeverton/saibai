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Anton"/>
      <p:regular r:id="rId48"/>
    </p:embeddedFont>
    <p:embeddedFont>
      <p:font typeface="Caveat"/>
      <p:regular r:id="rId49"/>
      <p:bold r:id="rId50"/>
    </p:embeddedFont>
    <p:embeddedFont>
      <p:font typeface="Inter"/>
      <p:regular r:id="rId51"/>
      <p:bold r:id="rId52"/>
      <p:italic r:id="rId53"/>
      <p:boldItalic r:id="rId54"/>
    </p:embeddedFont>
    <p:embeddedFont>
      <p:font typeface="Inter ExtraLight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nton-regular.fntdata"/><Relationship Id="rId47" Type="http://schemas.openxmlformats.org/officeDocument/2006/relationships/slide" Target="slides/slide42.xml"/><Relationship Id="rId49" Type="http://schemas.openxmlformats.org/officeDocument/2006/relationships/font" Target="fonts/Cave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-regular.fntdata"/><Relationship Id="rId50" Type="http://schemas.openxmlformats.org/officeDocument/2006/relationships/font" Target="fonts/Caveat-bold.fntdata"/><Relationship Id="rId53" Type="http://schemas.openxmlformats.org/officeDocument/2006/relationships/font" Target="fonts/Inter-italic.fntdata"/><Relationship Id="rId52" Type="http://schemas.openxmlformats.org/officeDocument/2006/relationships/font" Target="fonts/Inter-bold.fntdata"/><Relationship Id="rId11" Type="http://schemas.openxmlformats.org/officeDocument/2006/relationships/slide" Target="slides/slide6.xml"/><Relationship Id="rId55" Type="http://schemas.openxmlformats.org/officeDocument/2006/relationships/font" Target="fonts/InterExtraLight-regular.fntdata"/><Relationship Id="rId10" Type="http://schemas.openxmlformats.org/officeDocument/2006/relationships/slide" Target="slides/slide5.xml"/><Relationship Id="rId54" Type="http://schemas.openxmlformats.org/officeDocument/2006/relationships/font" Target="fonts/Inter-boldItalic.fntdata"/><Relationship Id="rId13" Type="http://schemas.openxmlformats.org/officeDocument/2006/relationships/slide" Target="slides/slide8.xml"/><Relationship Id="rId57" Type="http://schemas.openxmlformats.org/officeDocument/2006/relationships/font" Target="fonts/InterExtraLight-italic.fntdata"/><Relationship Id="rId12" Type="http://schemas.openxmlformats.org/officeDocument/2006/relationships/slide" Target="slides/slide7.xml"/><Relationship Id="rId56" Type="http://schemas.openxmlformats.org/officeDocument/2006/relationships/font" Target="fonts/InterExtraLight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InterExtraLigh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872acc91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872acc91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ca2a737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ca2a737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ca2a7379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ca2a737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ca2a7379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ca2a7379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ca2a737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ca2a737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148def2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148def2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8571ff3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a8571ff3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5a691b55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5a691b55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a691b55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5a691b55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5a691b55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5a691b5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8571ff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8571ff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ca2a7379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ca2a7379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ca2a7379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ca2a7379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48def28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148def28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148def28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148def28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33157e9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33157e9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a2a7379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ca2a7379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33157e9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33157e9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ca2a7379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ca2a7379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33157e92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33157e92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33157e92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33157e92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33157e92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33157e92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33157e92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33157e9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33157e92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33157e92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33157e92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33157e92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0b8256a7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0b8256a7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959223ca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959223ca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333a9997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333a999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333a9997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333a999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333a9997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333a9997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333a999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333a999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ca2a7379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ca2a7379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148def28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148def28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148def28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148def28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ca2a7379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ca2a7379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ca2a7379e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ca2a7379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ca2a7379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ca2a7379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ca2a7379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9ca2a7379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148def28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b148def28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959223ca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959223ca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959223ca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959223ca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148def28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b148def28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jp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jp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jpg"/><Relationship Id="rId4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449425" y="11180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MANUAL DE COPY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Saibai Saladas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51" y="3771621"/>
            <a:ext cx="1156899" cy="3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353925" y="361775"/>
            <a:ext cx="4347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O POSICIONAMENTO É O SEU PILAR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353925" y="1869100"/>
            <a:ext cx="495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é o lugar que a sua marca quer ocupar no coração e na mente da sua audiência.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você quer ser visto? Como você quer ser apresentado?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Seus valores e bandeiras precisam ser muito bem definidos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 podermos aplicar o plano prático ideal.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/>
        </p:nvSpPr>
        <p:spPr>
          <a:xfrm>
            <a:off x="462825" y="1367988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POSICIONAMENTO DE MARCA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/>
          <p:nvPr/>
        </p:nvSpPr>
        <p:spPr>
          <a:xfrm>
            <a:off x="0" y="0"/>
            <a:ext cx="3027300" cy="5143500"/>
          </a:xfrm>
          <a:prstGeom prst="rect">
            <a:avLst/>
          </a:prstGeom>
          <a:solidFill>
            <a:srgbClr val="8005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3027300" y="0"/>
            <a:ext cx="3027300" cy="5143500"/>
          </a:xfrm>
          <a:prstGeom prst="rect">
            <a:avLst/>
          </a:prstGeom>
          <a:solidFill>
            <a:srgbClr val="B207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6054600" y="0"/>
            <a:ext cx="3089400" cy="5143500"/>
          </a:xfrm>
          <a:prstGeom prst="rect">
            <a:avLst/>
          </a:prstGeom>
          <a:solidFill>
            <a:srgbClr val="ED1B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 txBox="1"/>
          <p:nvPr/>
        </p:nvSpPr>
        <p:spPr>
          <a:xfrm>
            <a:off x="512700" y="0"/>
            <a:ext cx="2001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Missão</a:t>
            </a:r>
            <a:endParaRPr sz="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3540000" y="0"/>
            <a:ext cx="2001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Visão</a:t>
            </a:r>
            <a:endParaRPr sz="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6567300" y="0"/>
            <a:ext cx="2001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Valores</a:t>
            </a:r>
            <a:endParaRPr sz="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64500" y="1547625"/>
            <a:ext cx="2298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Produzir e entregar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alcachofra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hortaliças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de alta qualidade, com manejo responsável,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frescor garantido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e respeito à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natureza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 conectando pessoas ao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sabor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 à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tradição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à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saúde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que vêm da terra.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391800" y="1547625"/>
            <a:ext cx="2298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Ser a principal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referência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nacional em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alcachofra fresca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e produtos agrícolas premium, expandindo nossa produção, nossa área refrigerada e nossos canais de venda, e tornando a Saibai uma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marca reconhecida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pela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qualidade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sustentabilidade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experiência de compra.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6054600" y="1082050"/>
            <a:ext cx="3027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Integridade – </a:t>
            </a:r>
            <a:r>
              <a:rPr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Trabalhar com transparência, seriedade e verdade, do cultivo à entrega.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Respeito ao Meio Ambiente – </a:t>
            </a:r>
            <a:r>
              <a:rPr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Cultivar com responsabilidade, cuidado com o solo e processos sustentáveis.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Competência – </a:t>
            </a:r>
            <a:r>
              <a:rPr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Aplicar técnica, pesquisa e gestão moderna em todas as etapas.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Qualidade –</a:t>
            </a:r>
            <a:r>
              <a:rPr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Do plantio ao cliente final, entregar sempre o melhor produto possível.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Confiança – </a:t>
            </a:r>
            <a:r>
              <a:rPr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Honrar a origem familiar, o relacionamento com clientes e o compromisso com o frescor.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Respeito – </a:t>
            </a:r>
            <a:r>
              <a:rPr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Considerar pessoas, parceiros e comunidade como parte essencial da nossa história.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Originalidade – </a:t>
            </a:r>
            <a:r>
              <a:rPr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Unir tradição japonesa e italiana com inovação e gestão diferenciada.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449425" y="249756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CONHEÇA SUA PERSONA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72500" y="170300"/>
            <a:ext cx="60396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 MAIOR</a:t>
            </a:r>
            <a:endParaRPr sz="31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DIFERENÇA ENTRE</a:t>
            </a:r>
            <a:endParaRPr sz="31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PERSONA E</a:t>
            </a:r>
            <a:endParaRPr sz="31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PÚBICO-ALVO</a:t>
            </a:r>
            <a:endParaRPr sz="31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053500" y="669200"/>
            <a:ext cx="4570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Público-alvo</a:t>
            </a:r>
            <a:r>
              <a:rPr lang="pt-BR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uma fatia mais abrangente das pessoas que a sua marca se direciona. Um grupo de pessoas que busca o que você oferece.</a:t>
            </a:r>
            <a:endParaRPr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Persona</a:t>
            </a:r>
            <a:r>
              <a:rPr lang="pt-BR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representação do seu cliente. É criada através de uma análise profunda, baseada em dados reais, sobre o público-alvo. Assim, você poderá ser mais assertivo e estratégico nos conteúdos.</a:t>
            </a:r>
            <a:endParaRPr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3147725" y="271350"/>
            <a:ext cx="4862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JOÃO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MARTINS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3196625" y="1451525"/>
            <a:ext cx="4764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Idade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42 anos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Cargo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Chef responsável pelas compras de um restaurante de SP.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Principal dor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Lidar com fornecedores inconsistentes: produtos chegando fora do padrão, diferenças de tamanho, perda alta e entregas irregulares, comprometendo o cardápio, aumentando o desperdício e gerando atrito com a equipe e com os sócios.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ajuda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entrega alcachofra e hortaliças com padrão constante, logística refrigerada própria e frequência semanal. Isso reduz perdas, garante qualidade no prato e traz segurança para o menu. João sabe que pode programar compras sem surpresas.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85175" y="-144750"/>
            <a:ext cx="3525501" cy="52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3147725" y="271350"/>
            <a:ext cx="4862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CARLOS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RIBEIRO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196625" y="1451525"/>
            <a:ext cx="4764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Idade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38 anos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Cargo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Gerente de Hortifruti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Principal dor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Manter o setor sempre abastecido com produtos frescos e bonitos. Ele sofre com fornecedores que entregam volumes irregulares, hortaliças murchas ou fora do padrão, o que gera perda e reclamação de clientes.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ajuda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oferece padronização, frescor e reposição constante. As entregas chegam organizadas, higienizadas e com apresentação impecável. O hortifruti fica mais atrativo, com menos perda e maior giro.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85450" y="-136250"/>
            <a:ext cx="3519824" cy="52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3147725" y="271350"/>
            <a:ext cx="4862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HELENA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FRANCHI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3196625" y="1451525"/>
            <a:ext cx="4764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Idade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56 anos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Cargo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Profissional da saúde responsável pelas compras da sua própria casa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Principal dor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Ela ama alcachofra, mas não encontra fresca, tem medo de comprar sem procedência e teme errar no preparo. Quer produtos confiáveis, de qualidade, e que tragam memórias afetivas da família.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ajuda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entrega alcachofra fresca direto do produtor, com higienização impecável, variedade de formatos, explicação de preparo e compra fácil pelo e-commerce/WhatsApp. Helena recebe um produto que ela confia e que conecta tradição com saúde.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2211" y="0"/>
            <a:ext cx="367536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3147725" y="271350"/>
            <a:ext cx="4862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RICARDO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LOPES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3368225" y="1436825"/>
            <a:ext cx="4764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Idade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40 anos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Cargo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Proprietário de um bistrô em Sorocaba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Principal dor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Ricardo luta para equilibrar qualidade e custo. Seu cardápio depende de frescor e padronização, mas fornecedores comuns entregam produtos instáveis, o que compromete pratos, gera reclamação de clientes e aumenta desperdício.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ajuda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fornece produtos frescos, padronizados e com entrega refrigerada, garantindo constância no menu e reduzindo perdas. Ricardo consegue planejar melhor sua operação, manter a qualidade dos pratos e justificar preços premium no cardápio.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10450" y="-255475"/>
            <a:ext cx="3762925" cy="539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4"/>
          <p:cNvSpPr txBox="1"/>
          <p:nvPr/>
        </p:nvSpPr>
        <p:spPr>
          <a:xfrm>
            <a:off x="3147725" y="271350"/>
            <a:ext cx="4862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MARIANA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AZEVEDO</a:t>
            </a:r>
            <a:endParaRPr sz="2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3196625" y="1451525"/>
            <a:ext cx="47643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Idade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30 anos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Cargo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Arquiteta e responsável pela organização dos jantares da família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Principal dor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Mariana adora receber amigos e preparar pratos especiais, mas não tem tempo para ir atrás de fornecedores confiáveis. Ela quer produtos premium, frescos e com apresentação impecável, algo que encante na mesa sem exigir esforço extra.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ajuda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entrega alcachofras frescas e hortaliças premium direto na casa dela, com qualidade consistente e visual elegante. Mariana recebe produtos que elevam qualquer jantar, impressionam convidados e economizam tempo.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64100"/>
            <a:ext cx="3474699" cy="521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432400" y="6241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TENDÊNCIAS DE MERCADO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 txBox="1"/>
          <p:nvPr/>
        </p:nvSpPr>
        <p:spPr>
          <a:xfrm>
            <a:off x="353925" y="361775"/>
            <a:ext cx="631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CONSUMIDORES BUSCAM PRODUTOS DE ORIGEM REAL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154025" y="1654775"/>
            <a:ext cx="7978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mercado está migrando de alimentos “comoditizados” para alimentos com história, origem e procedência comprovada.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As pessoas querem saber quem produz, como produz, e de onde vem o que elas colocam no prato.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🚚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se Encaixa: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tem exatamente o que o mercado está pedindo: produção própria, história familiar forte, cultivo responsável, logística refrigerada que garante frescor real e conexão emocional com tradição e gastronomia.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📢 I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deias de Conteúdo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Anúncio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"Antes de chegar à sua mesa, nossa alcachofra passa por mãos que cuidam da terra há mais de 50 anos.”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Conteúdo Orgânico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Série “Da Terra à Mesa”: takes da colheita, explicação do manejo, história da família, mostre o padrão da alcachofra fresca e entrega ao cliente.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353925" y="361775"/>
            <a:ext cx="631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CRESCIMENTO DO CONSUMO SAUDÁVEL + ALIMENTAÇÃO PREMIUM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154025" y="1654775"/>
            <a:ext cx="7978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As pessoas estão cozinhando mais em casa, buscando alimentos frescos, saudáveis e diferenciados.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público de renda média/alta está migrando para produtos que elevam a experiência culinária, mas com praticidade.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🚚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se Encaixa: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Alcachofra fresca premium, hortaliças higienizadas, entrega semanal refrigerada e experiência gastronômica elevada sem complicação.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📢 I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deias de Conteúdo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Anúncio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"Transforme seu jantar comum em uma experiência completa com alcachofras frescas entregues na sua casa."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Conteúdo Orgânico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“Receitas rápidas com alcachofra Saibai”: Risoto, Alcachofra grelhada, Antepasto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– Como limpar em 1 minuto CTA: “Salve para fazer esta semana.”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/>
        </p:nvSpPr>
        <p:spPr>
          <a:xfrm>
            <a:off x="353925" y="361775"/>
            <a:ext cx="631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PREFERÊNCIA POR COMPRAR DIRETO DO PRODUTOR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154025" y="1654775"/>
            <a:ext cx="7978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consumidor está deixando intermediários de lado para comprar direto de quem produz, buscando: frescor, preço justo, confiança e relacionamento.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Isso está acontecendo especialmente com alimentos frescos e produtos agrícolas premium.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🚚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se Encaixa: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já é um case natural desse movimento: venda pelo WhatsApp, e-commerce próprio, marca que se comunica diretamente com famílias, entrega refrigerada e confiança construída por indicação.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📢 I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deias de Conteúdo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Anúncio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“Do nosso campo direto para o seu mercado: alcachofras frescas entregues com a qualidade que só o produtor garante.”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Conteúdo Orgânico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Vídeo estilo POV: “Como sua alcachofra é colhida hoje e chega fresquinha no seu mercado  amanhã.” CTA: “Peça direto do produtor no WhatsApp.”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/>
        </p:nvSpPr>
        <p:spPr>
          <a:xfrm>
            <a:off x="353925" y="361775"/>
            <a:ext cx="78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COMUNICAÇÃO ORIENTADA À DECISÃO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154025" y="1270975"/>
            <a:ext cx="7978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mercado está se movendo de uma comunicação apenas inspiracional para uma comunicação orientada à ação.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consumidor quer saber rapidamente: O que eu compro agora? Qual produto resolve meu problema hoje? Qual é o próximo passo simples?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🚚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a Saibai se Encaixa: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já tem autoridade, história e qualidade.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próximo nível da comunicação é traduzir isso em escolhas claras, principalmente para alcachofra: Qual alcachofra comprar? Para qual ocasião? Para quantas pessoas? Com qual preparo?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📢 I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deias de Conteúdo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Anúncio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“Todo mundo fala em comer melhor. A Saibai te mostra exatamente o que comprar agora.”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Conteúdo Orgânico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“A maior dúvida na cozinha nunca foi como preparar. Sempre foi saber o que escolher.”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449425" y="11180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OS SEUS PRINCIPAIS DIFERENCIAIS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1"/>
          <p:cNvSpPr/>
          <p:nvPr/>
        </p:nvSpPr>
        <p:spPr>
          <a:xfrm>
            <a:off x="1960050" y="810000"/>
            <a:ext cx="5223900" cy="100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Produzimos nossas alcachofras do plantio à colheita, garantindo controle total de qualidade e procedência.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31"/>
          <p:cNvSpPr/>
          <p:nvPr/>
        </p:nvSpPr>
        <p:spPr>
          <a:xfrm>
            <a:off x="1960050" y="2069400"/>
            <a:ext cx="5223900" cy="100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Nossa logística refrigerada própria preserva frescor, textura e sabor do campo até a sua mesa.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31"/>
          <p:cNvSpPr/>
          <p:nvPr/>
        </p:nvSpPr>
        <p:spPr>
          <a:xfrm>
            <a:off x="1960050" y="3328800"/>
            <a:ext cx="5223900" cy="100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Selecionamos e padronizamos cada produto para que a qualidade seja sempre a mesma, em todas as entregas.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/>
          <p:nvPr/>
        </p:nvSpPr>
        <p:spPr>
          <a:xfrm>
            <a:off x="1960050" y="1389075"/>
            <a:ext cx="5223900" cy="100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Somos especialistas em alcachofra fresca, com conhecimento técnico e experiência construída ao longo de décadas.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1960050" y="2597375"/>
            <a:ext cx="5223900" cy="1004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Nossa marca nasce de famílias com tradição agrícola real, que vivem o cultivo e respeitam a terra.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/>
        </p:nvSpPr>
        <p:spPr>
          <a:xfrm>
            <a:off x="466450" y="1367988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COMO OS SEUS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DIFERENCIAIS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VENDEM?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4"/>
          <p:cNvSpPr txBox="1"/>
          <p:nvPr/>
        </p:nvSpPr>
        <p:spPr>
          <a:xfrm>
            <a:off x="353925" y="361775"/>
            <a:ext cx="78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PRODUÇÃO PRÓPRIA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273250" y="1326600"/>
            <a:ext cx="61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“Quando você compra da Saibai, não depende de atravessadores nem corre riscos com procedência. Nós produzimos a alcachofra desde o plantio, o que garante frescor real, controle de qualidade total e um produto que chega até você exatamente como foi pensado no campo.”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5"/>
          <p:cNvSpPr txBox="1"/>
          <p:nvPr/>
        </p:nvSpPr>
        <p:spPr>
          <a:xfrm>
            <a:off x="353925" y="361775"/>
            <a:ext cx="78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LOGÍSTICA REFRIGERADA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2" name="Google Shape;212;p35"/>
          <p:cNvSpPr txBox="1"/>
          <p:nvPr/>
        </p:nvSpPr>
        <p:spPr>
          <a:xfrm>
            <a:off x="273250" y="1326600"/>
            <a:ext cx="61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maioria dos problemas de hortifrúti acontece depois da colheita. A Saibai elimina esse risco com logística refrigerada própria, preservando textura, sabor e vida útil. Isso significa menos perda, mais rendimento e a certeza de que o produto chega no ponto certo para uso.”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 txBox="1"/>
          <p:nvPr/>
        </p:nvSpPr>
        <p:spPr>
          <a:xfrm>
            <a:off x="353925" y="361775"/>
            <a:ext cx="78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PADRÃO CONSTANTE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9" name="Google Shape;219;p36"/>
          <p:cNvSpPr txBox="1"/>
          <p:nvPr/>
        </p:nvSpPr>
        <p:spPr>
          <a:xfrm>
            <a:off x="273250" y="1326600"/>
            <a:ext cx="61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Comprar hortifrúti não pode ser uma aposta. Na Saibai, cada lote segue o mesmo padrão de seleção, calibre e qualidade. Você recebe hoje, amanhã e no próximo mês o mesmo produto — o que dá segurança para cozinhar, vender ou planejar seu cardápio sem surpresas.”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7"/>
          <p:cNvSpPr txBox="1"/>
          <p:nvPr/>
        </p:nvSpPr>
        <p:spPr>
          <a:xfrm>
            <a:off x="353925" y="361775"/>
            <a:ext cx="78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AUTORIDADE EM ALCACHOFRA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26" name="Google Shape;226;p37"/>
          <p:cNvSpPr txBox="1"/>
          <p:nvPr/>
        </p:nvSpPr>
        <p:spPr>
          <a:xfrm>
            <a:off x="273250" y="1326600"/>
            <a:ext cx="61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alcachofra não é um produto comum, e não pode ser tratada como tal. A Saibai é especialista nesse cultivo, com conhecimento técnico acumulado ao longo de gerações. Por isso, sabemos o ponto exato de colheita, o melhor manejo e como entregar a melhor experiência possível para quem compra.”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8"/>
          <p:cNvSpPr txBox="1"/>
          <p:nvPr/>
        </p:nvSpPr>
        <p:spPr>
          <a:xfrm>
            <a:off x="353925" y="361775"/>
            <a:ext cx="787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HISTÓRIA VERDADEIRA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273250" y="1326600"/>
            <a:ext cx="61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Saibai não construiu sua reputação em discurso, mas no campo. São famílias com décadas de tradição agrícola, reconhecidas por chefs, supermercados e clientes exigentes. Quando você escolhe a Saibai, escolhe uma marca que tem história, credibilidade e compromisso real com o que entrega.”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/>
          <p:nvPr/>
        </p:nvSpPr>
        <p:spPr>
          <a:xfrm>
            <a:off x="353925" y="361775"/>
            <a:ext cx="2847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COMO OS SEUS DIFERENCIAIS SE APLICAM NO MERCADO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40" name="Google Shape;240;p39"/>
          <p:cNvSpPr txBox="1"/>
          <p:nvPr/>
        </p:nvSpPr>
        <p:spPr>
          <a:xfrm>
            <a:off x="353925" y="1969050"/>
            <a:ext cx="2847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Campanhas</a:t>
            </a:r>
            <a:endParaRPr sz="37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41" name="Google Shape;241;p39"/>
          <p:cNvSpPr txBox="1"/>
          <p:nvPr/>
        </p:nvSpPr>
        <p:spPr>
          <a:xfrm>
            <a:off x="2622850" y="170550"/>
            <a:ext cx="56883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Foco da Campanha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Posicionamento e qualidade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Diferencial aplicado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Especialistas em alcachofra fresca, produção própria e padrão único.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Mensagem sugerida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"A verdadeira alcachofra fresca do Brasil. Produção própria, sabor autêntico e qualidade que você só encontra direto do produtor."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Foco da campanha: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Urgência e solução imediata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Diferencial aplicado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Logística refrigerada própria que garante frescor e constância.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Mensagem sugerida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"Receba frescor de verdade. Entrega refrigerada direto da fazenda para sua mesa, com estoque e reposição constante."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Foco da campanha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Credibilidade e prova social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Diferencial aplicado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Origem familiar com 50 anos de tradição no cultivo.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Mensagem sugerida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"Nossa história começa na terra. Décadas de tradição produzindo alcachofras que conquistam chefs, supermercados e famílias."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0"/>
          <p:cNvSpPr txBox="1"/>
          <p:nvPr/>
        </p:nvSpPr>
        <p:spPr>
          <a:xfrm>
            <a:off x="353925" y="361775"/>
            <a:ext cx="2847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COMO OS SEUS DIFERENCIAIS SE APLICAM NO MERCADO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48" name="Google Shape;248;p40"/>
          <p:cNvSpPr txBox="1"/>
          <p:nvPr/>
        </p:nvSpPr>
        <p:spPr>
          <a:xfrm>
            <a:off x="353925" y="1969050"/>
            <a:ext cx="2847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Storytelling</a:t>
            </a:r>
            <a:endParaRPr sz="37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49" name="Google Shape;249;p40"/>
          <p:cNvSpPr txBox="1"/>
          <p:nvPr/>
        </p:nvSpPr>
        <p:spPr>
          <a:xfrm>
            <a:off x="2554625" y="55050"/>
            <a:ext cx="55779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“Tudo começa com a terra.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Antes mesmo da Saibai existir, nossas famílias já cultivavam alcachofras há mais de 50 anos.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Foi esse conhecimento passado de geração em geração que nos ensinou que qualidade não se improvisa — se cultiva.”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Aqui entramos no Diferencial 3 – Tradição e origem familiar</a:t>
            </a:r>
            <a:endParaRPr b="1"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Credibilidade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Confiança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Prova social ancestral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“Hoje, quando você escolhe uma alcachofra Saibai, está escolhendo um produto que nasce, cresce e é colhido por quem entende profundamente desse cultivo.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Somos especialistas em alcachofra fresca, e cada detalhe — da variedade ao ponto de corte — é feito com um único objetivo: entregar o melhor sabor que o campo pode oferecer.”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Aqui entra o Diferencial 1 – Especialistas em alcachofra e qualidade superior</a:t>
            </a:r>
            <a:endParaRPr b="1"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Posicionamento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Autoridade técnica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Percepção premium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“Mas não basta produzir com excelência.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Para chegar até você com o mesmo frescor do dia da colheita, criamos nossa própria logística refrigerada.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Cada caixa percorre um caminho pensado para preservar textura, sabor e qualidade — seja para um chef de cozinha, um supermercado ou a sua casa.”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Aqui entra o Diferencial 2 – Logística refrigerada própria</a:t>
            </a:r>
            <a:endParaRPr b="1"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Urgência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Segurança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Solução imediata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→ Confiabilidade operacional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“Da nossa terra para sua mesa.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 história, especialidade e cuidado em cada etapa.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Isso é Saibai — frescor que você vê, confiança que você sente.”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/>
        </p:nvSpPr>
        <p:spPr>
          <a:xfrm>
            <a:off x="449425" y="1367988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COPY NA 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PRÁTICA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2"/>
          <p:cNvSpPr txBox="1"/>
          <p:nvPr/>
        </p:nvSpPr>
        <p:spPr>
          <a:xfrm>
            <a:off x="353925" y="361775"/>
            <a:ext cx="787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ANÚNCIOS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62" name="Google Shape;262;p42"/>
          <p:cNvSpPr txBox="1"/>
          <p:nvPr/>
        </p:nvSpPr>
        <p:spPr>
          <a:xfrm>
            <a:off x="264125" y="1880700"/>
            <a:ext cx="3822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Card 1 (Hook)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Você não encontra alcachofra fresca porque quase ninguém produz de verdade.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Card 2 (Valor)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Na Saibai, a alcachofra nasce, cresce e é colhida por quem é especialista no cultivo. Produção própria, padrão constante e entrega refrigerada direto na sua casa.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Card 3 (Decisão)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Quer cozinhar algo especial sem errar? Clique em SAIBA MAIS e encomende sua alcachofra conosco!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cxnSp>
        <p:nvCxnSpPr>
          <p:cNvPr id="263" name="Google Shape;263;p42"/>
          <p:cNvCxnSpPr/>
          <p:nvPr/>
        </p:nvCxnSpPr>
        <p:spPr>
          <a:xfrm flipH="1">
            <a:off x="4285875" y="1433250"/>
            <a:ext cx="8400" cy="31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42"/>
          <p:cNvSpPr txBox="1"/>
          <p:nvPr/>
        </p:nvSpPr>
        <p:spPr>
          <a:xfrm>
            <a:off x="548025" y="1090338"/>
            <a:ext cx="787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B2B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65" name="Google Shape;265;p42"/>
          <p:cNvSpPr txBox="1"/>
          <p:nvPr/>
        </p:nvSpPr>
        <p:spPr>
          <a:xfrm>
            <a:off x="4481600" y="1090338"/>
            <a:ext cx="787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B2C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4403325" y="1880700"/>
            <a:ext cx="3603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Hook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Fornecedor instável custa mais caro do que produto premium.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Texto 1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A Saibai entrega alcachofra e hortaliças com padrão constante, logística refrigerada própria e produção controlada. Menos perda, mais segurança e previsibilidade.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CTA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Clique em SAIBA MAIS, fale com a Saibai e garanta fornecimento confiável.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3"/>
          <p:cNvSpPr txBox="1"/>
          <p:nvPr/>
        </p:nvSpPr>
        <p:spPr>
          <a:xfrm>
            <a:off x="353925" y="361775"/>
            <a:ext cx="787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QUEBRANDO OBJEÇÕES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3" name="Google Shape;273;p43"/>
          <p:cNvSpPr txBox="1"/>
          <p:nvPr/>
        </p:nvSpPr>
        <p:spPr>
          <a:xfrm>
            <a:off x="264125" y="1880700"/>
            <a:ext cx="3822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Card 1 (Hook)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Será que a alcachofra mais barata é a que tem a MELHOR QUALIDADE?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Card 2 (Quebra da objeção)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Na Saibai, você compra alcachofra fresca direto do produtor, com colheita no ponto certo, padrão constante e entrega refrigerada. Menos perda, mais rendimento e muito mais sabor.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Card 3 (Reenquadramento de valor)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O que sai caro não é pagar mais. É pagar barato e desperdiçar depois.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Peça seu orçamento clicando no link da Bio!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cxnSp>
        <p:nvCxnSpPr>
          <p:cNvPr id="274" name="Google Shape;274;p43"/>
          <p:cNvCxnSpPr/>
          <p:nvPr/>
        </p:nvCxnSpPr>
        <p:spPr>
          <a:xfrm flipH="1">
            <a:off x="4285875" y="1433250"/>
            <a:ext cx="8400" cy="31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43"/>
          <p:cNvSpPr txBox="1"/>
          <p:nvPr/>
        </p:nvSpPr>
        <p:spPr>
          <a:xfrm>
            <a:off x="548025" y="1090338"/>
            <a:ext cx="787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B2B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6" name="Google Shape;276;p43"/>
          <p:cNvSpPr txBox="1"/>
          <p:nvPr/>
        </p:nvSpPr>
        <p:spPr>
          <a:xfrm>
            <a:off x="4481600" y="1090338"/>
            <a:ext cx="787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B2C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7" name="Google Shape;277;p43"/>
          <p:cNvSpPr txBox="1"/>
          <p:nvPr/>
        </p:nvSpPr>
        <p:spPr>
          <a:xfrm>
            <a:off x="4403325" y="1880700"/>
            <a:ext cx="3603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Hook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Preço baixo engana quando o produto não entrega o que promete.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Texto 1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Produzimos nossa própria alcachofra e entregamos com logística refrigerada, garantindo frescor, qualidade e aproveitamento real.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CTA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Compre direto do produtor e receba em casa. Clique no link da Bio!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/>
        </p:nvSpPr>
        <p:spPr>
          <a:xfrm>
            <a:off x="449425" y="11180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GOLDEN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CIRCLE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83" name="Google Shape;28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5"/>
          <p:cNvSpPr txBox="1"/>
          <p:nvPr/>
        </p:nvSpPr>
        <p:spPr>
          <a:xfrm>
            <a:off x="6953600" y="273325"/>
            <a:ext cx="1826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GOLDEN CIRCLE</a:t>
            </a:r>
            <a:endParaRPr sz="2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DA APPLE</a:t>
            </a:r>
            <a:endParaRPr sz="2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90" name="Google Shape;290;p45"/>
          <p:cNvPicPr preferRelativeResize="0"/>
          <p:nvPr/>
        </p:nvPicPr>
        <p:blipFill rotWithShape="1">
          <a:blip r:embed="rId5">
            <a:alphaModFix/>
          </a:blip>
          <a:srcRect b="10543" l="17143" r="20015" t="8228"/>
          <a:stretch/>
        </p:blipFill>
        <p:spPr>
          <a:xfrm>
            <a:off x="510950" y="1021888"/>
            <a:ext cx="3065650" cy="309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5"/>
          <p:cNvSpPr txBox="1"/>
          <p:nvPr/>
        </p:nvSpPr>
        <p:spPr>
          <a:xfrm>
            <a:off x="613375" y="1647500"/>
            <a:ext cx="286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highlight>
                  <a:srgbClr val="1155CC"/>
                </a:highlight>
                <a:latin typeface="Inter"/>
                <a:ea typeface="Inter"/>
                <a:cs typeface="Inter"/>
                <a:sym typeface="Inter"/>
              </a:rPr>
              <a:t>NÓS FAZEMOS COMPUTADORES</a:t>
            </a:r>
            <a:endParaRPr b="1" sz="900">
              <a:solidFill>
                <a:schemeClr val="lt1"/>
              </a:solidFill>
              <a:highlight>
                <a:srgbClr val="1155C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45"/>
          <p:cNvSpPr txBox="1"/>
          <p:nvPr/>
        </p:nvSpPr>
        <p:spPr>
          <a:xfrm rot="-453759">
            <a:off x="963162" y="3673025"/>
            <a:ext cx="2698876" cy="4309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highlight>
                  <a:srgbClr val="7F6000"/>
                </a:highlight>
                <a:latin typeface="Inter"/>
                <a:ea typeface="Inter"/>
                <a:cs typeface="Inter"/>
                <a:sym typeface="Inter"/>
              </a:rPr>
              <a:t>GOLDEN CIRCLE APPLE</a:t>
            </a:r>
            <a:endParaRPr b="1" sz="1600">
              <a:solidFill>
                <a:schemeClr val="lt1"/>
              </a:solidFill>
              <a:highlight>
                <a:srgbClr val="7F6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1064575" y="3106100"/>
            <a:ext cx="19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highlight>
                  <a:srgbClr val="1155CC"/>
                </a:highlight>
                <a:latin typeface="Inter"/>
                <a:ea typeface="Inter"/>
                <a:cs typeface="Inter"/>
                <a:sym typeface="Inter"/>
              </a:rPr>
              <a:t>NOSSOS PRODUTOS SÃO BONITOS E FÁCEIS DE USAR</a:t>
            </a:r>
            <a:endParaRPr b="1" sz="900">
              <a:solidFill>
                <a:schemeClr val="lt1"/>
              </a:solidFill>
              <a:highlight>
                <a:srgbClr val="1155C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1170925" y="2340913"/>
            <a:ext cx="174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highlight>
                  <a:srgbClr val="1155CC"/>
                </a:highlight>
                <a:latin typeface="Inter"/>
                <a:ea typeface="Inter"/>
                <a:cs typeface="Inter"/>
                <a:sym typeface="Inter"/>
              </a:rPr>
              <a:t>DESAFIAMOS O STATUS “QUO” COM INOVAÇÕES</a:t>
            </a:r>
            <a:endParaRPr b="1" sz="900">
              <a:solidFill>
                <a:schemeClr val="lt1"/>
              </a:solidFill>
              <a:highlight>
                <a:srgbClr val="1155C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45"/>
          <p:cNvSpPr txBox="1"/>
          <p:nvPr/>
        </p:nvSpPr>
        <p:spPr>
          <a:xfrm>
            <a:off x="3576600" y="1427725"/>
            <a:ext cx="9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45"/>
          <p:cNvSpPr txBox="1"/>
          <p:nvPr/>
        </p:nvSpPr>
        <p:spPr>
          <a:xfrm>
            <a:off x="3729000" y="2340925"/>
            <a:ext cx="9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45"/>
          <p:cNvSpPr txBox="1"/>
          <p:nvPr/>
        </p:nvSpPr>
        <p:spPr>
          <a:xfrm>
            <a:off x="3729000" y="3106100"/>
            <a:ext cx="9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45"/>
          <p:cNvSpPr txBox="1"/>
          <p:nvPr/>
        </p:nvSpPr>
        <p:spPr>
          <a:xfrm>
            <a:off x="4824300" y="1886875"/>
            <a:ext cx="3213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conceito “Golden Circle” é baseado em 3 perguntas: </a:t>
            </a:r>
            <a:r>
              <a:rPr b="1" lang="pt-BR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(O que)</a:t>
            </a: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,</a:t>
            </a:r>
            <a:r>
              <a:rPr b="1" lang="pt-BR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HOW (Como) e WHY (Por que)</a:t>
            </a: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. Antes de fazer algo, é preciso pensar em qual é o propósito principal da sua marca.  Afinal, as pessoas não compram apenas produtos/itens, </a:t>
            </a:r>
            <a:r>
              <a:rPr b="1" lang="pt-BR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elas compram propósitos.</a:t>
            </a:r>
            <a:endParaRPr b="1"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6"/>
          <p:cNvSpPr txBox="1"/>
          <p:nvPr/>
        </p:nvSpPr>
        <p:spPr>
          <a:xfrm>
            <a:off x="6953600" y="273325"/>
            <a:ext cx="1826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O SEU</a:t>
            </a:r>
            <a:endParaRPr sz="2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GOLDEN</a:t>
            </a:r>
            <a:endParaRPr sz="2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CIRCLE</a:t>
            </a:r>
            <a:endParaRPr sz="2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305" name="Google Shape;305;p46"/>
          <p:cNvPicPr preferRelativeResize="0"/>
          <p:nvPr/>
        </p:nvPicPr>
        <p:blipFill rotWithShape="1">
          <a:blip r:embed="rId5">
            <a:alphaModFix/>
          </a:blip>
          <a:srcRect b="10543" l="17143" r="20015" t="8228"/>
          <a:stretch/>
        </p:blipFill>
        <p:spPr>
          <a:xfrm>
            <a:off x="510950" y="1021888"/>
            <a:ext cx="3065650" cy="309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6"/>
          <p:cNvSpPr txBox="1"/>
          <p:nvPr/>
        </p:nvSpPr>
        <p:spPr>
          <a:xfrm>
            <a:off x="613375" y="1647500"/>
            <a:ext cx="286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highlight>
                  <a:srgbClr val="1155CC"/>
                </a:highlight>
                <a:latin typeface="Inter"/>
                <a:ea typeface="Inter"/>
                <a:cs typeface="Inter"/>
                <a:sym typeface="Inter"/>
              </a:rPr>
              <a:t>NÓS FAZEMOS COMPUTADORES</a:t>
            </a:r>
            <a:endParaRPr b="1" sz="900">
              <a:solidFill>
                <a:schemeClr val="lt1"/>
              </a:solidFill>
              <a:highlight>
                <a:srgbClr val="1155C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46"/>
          <p:cNvSpPr txBox="1"/>
          <p:nvPr/>
        </p:nvSpPr>
        <p:spPr>
          <a:xfrm rot="-453759">
            <a:off x="963162" y="3673025"/>
            <a:ext cx="2698876" cy="4309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highlight>
                  <a:srgbClr val="7F6000"/>
                </a:highlight>
                <a:latin typeface="Inter"/>
                <a:ea typeface="Inter"/>
                <a:cs typeface="Inter"/>
                <a:sym typeface="Inter"/>
              </a:rPr>
              <a:t>GOLDEN CIRCLE APPLE</a:t>
            </a:r>
            <a:endParaRPr b="1" sz="1600">
              <a:solidFill>
                <a:schemeClr val="lt1"/>
              </a:solidFill>
              <a:highlight>
                <a:srgbClr val="7F6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46"/>
          <p:cNvSpPr txBox="1"/>
          <p:nvPr/>
        </p:nvSpPr>
        <p:spPr>
          <a:xfrm>
            <a:off x="1064575" y="3106100"/>
            <a:ext cx="19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highlight>
                  <a:srgbClr val="1155CC"/>
                </a:highlight>
                <a:latin typeface="Inter"/>
                <a:ea typeface="Inter"/>
                <a:cs typeface="Inter"/>
                <a:sym typeface="Inter"/>
              </a:rPr>
              <a:t>NOSSOS PRODUTOS SÃO BONITOS E FÁCEIS DE USAR</a:t>
            </a:r>
            <a:endParaRPr b="1" sz="900">
              <a:solidFill>
                <a:schemeClr val="lt1"/>
              </a:solidFill>
              <a:highlight>
                <a:srgbClr val="1155C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46"/>
          <p:cNvSpPr txBox="1"/>
          <p:nvPr/>
        </p:nvSpPr>
        <p:spPr>
          <a:xfrm>
            <a:off x="1170925" y="2340913"/>
            <a:ext cx="174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lt1"/>
                </a:solidFill>
                <a:highlight>
                  <a:srgbClr val="1155CC"/>
                </a:highlight>
                <a:latin typeface="Inter"/>
                <a:ea typeface="Inter"/>
                <a:cs typeface="Inter"/>
                <a:sym typeface="Inter"/>
              </a:rPr>
              <a:t>DESAFIAMOS O STATUS “QUO” COM INOVAÇÕES</a:t>
            </a:r>
            <a:endParaRPr b="1" sz="900">
              <a:solidFill>
                <a:schemeClr val="lt1"/>
              </a:solidFill>
              <a:highlight>
                <a:srgbClr val="1155C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46"/>
          <p:cNvSpPr txBox="1"/>
          <p:nvPr/>
        </p:nvSpPr>
        <p:spPr>
          <a:xfrm>
            <a:off x="3576600" y="1427725"/>
            <a:ext cx="9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46"/>
          <p:cNvSpPr txBox="1"/>
          <p:nvPr/>
        </p:nvSpPr>
        <p:spPr>
          <a:xfrm>
            <a:off x="3729000" y="2340925"/>
            <a:ext cx="9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3729000" y="3106100"/>
            <a:ext cx="9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46"/>
          <p:cNvSpPr txBox="1"/>
          <p:nvPr/>
        </p:nvSpPr>
        <p:spPr>
          <a:xfrm>
            <a:off x="4918925" y="1548150"/>
            <a:ext cx="32136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Alcachofras frescas e hortaliças premium para restaurantes, supermercados e famílias exigentes.</a:t>
            </a:r>
            <a:endParaRPr sz="11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Produção própria, tradição agrícola, qualidade rigorosa e logística refrigerada que garante frescor até a entrega.</a:t>
            </a:r>
            <a:endParaRPr sz="11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Conectar pessoas ao sabor e às tradições do campo com alimentos frescos, sustentáveis e de procedência real.</a:t>
            </a:r>
            <a:endParaRPr sz="11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/>
        </p:nvSpPr>
        <p:spPr>
          <a:xfrm>
            <a:off x="449425" y="11180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DORES QUE A MARCA CURA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9" name="Google Shape;31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8"/>
          <p:cNvSpPr/>
          <p:nvPr/>
        </p:nvSpPr>
        <p:spPr>
          <a:xfrm>
            <a:off x="3080400" y="347100"/>
            <a:ext cx="2983200" cy="92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</a:rPr>
              <a:t>A dificuldade de encontrar alcachofra fresca com qualidade e procedência.</a:t>
            </a:r>
            <a:endParaRPr sz="1200"/>
          </a:p>
        </p:txBody>
      </p:sp>
      <p:sp>
        <p:nvSpPr>
          <p:cNvPr id="326" name="Google Shape;326;p48"/>
          <p:cNvSpPr/>
          <p:nvPr/>
        </p:nvSpPr>
        <p:spPr>
          <a:xfrm>
            <a:off x="3080400" y="2629213"/>
            <a:ext cx="2983200" cy="92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lt1"/>
                </a:solidFill>
              </a:rPr>
              <a:t>A falta de padrão e frescor que prejudica restaurantes, supermercados e consumidores.</a:t>
            </a:r>
            <a:endParaRPr sz="1000"/>
          </a:p>
        </p:txBody>
      </p:sp>
      <p:sp>
        <p:nvSpPr>
          <p:cNvPr id="327" name="Google Shape;327;p48"/>
          <p:cNvSpPr/>
          <p:nvPr/>
        </p:nvSpPr>
        <p:spPr>
          <a:xfrm>
            <a:off x="3080400" y="1488163"/>
            <a:ext cx="2983200" cy="92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lt1"/>
                </a:solidFill>
              </a:rPr>
              <a:t>A frustração com fornecedores inconsistentes e entregas irregulares.</a:t>
            </a:r>
            <a:endParaRPr sz="1200"/>
          </a:p>
        </p:txBody>
      </p:sp>
      <p:sp>
        <p:nvSpPr>
          <p:cNvPr id="328" name="Google Shape;328;p48"/>
          <p:cNvSpPr/>
          <p:nvPr/>
        </p:nvSpPr>
        <p:spPr>
          <a:xfrm>
            <a:off x="3080400" y="3816625"/>
            <a:ext cx="2983200" cy="92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lt1"/>
                </a:solidFill>
              </a:rPr>
              <a:t>A insegurança de comprar alimentos sem saber como foram cultivados ou armazenados.</a:t>
            </a:r>
            <a:endParaRPr sz="1100"/>
          </a:p>
        </p:txBody>
      </p:sp>
      <p:sp>
        <p:nvSpPr>
          <p:cNvPr id="329" name="Google Shape;329;p48"/>
          <p:cNvSpPr txBox="1"/>
          <p:nvPr/>
        </p:nvSpPr>
        <p:spPr>
          <a:xfrm>
            <a:off x="353925" y="361775"/>
            <a:ext cx="284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DORES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/>
        </p:nvSpPr>
        <p:spPr>
          <a:xfrm>
            <a:off x="449425" y="11180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DESEJOS DA PERSONA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5" name="Google Shape;33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0"/>
          <p:cNvSpPr/>
          <p:nvPr/>
        </p:nvSpPr>
        <p:spPr>
          <a:xfrm>
            <a:off x="3080400" y="347100"/>
            <a:ext cx="2983200" cy="92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</a:rPr>
              <a:t>Ter acesso à alcachofra fresca, premium e difícil de encontrar no mercado.</a:t>
            </a:r>
            <a:endParaRPr sz="1300"/>
          </a:p>
        </p:txBody>
      </p:sp>
      <p:sp>
        <p:nvSpPr>
          <p:cNvPr id="342" name="Google Shape;342;p50"/>
          <p:cNvSpPr/>
          <p:nvPr/>
        </p:nvSpPr>
        <p:spPr>
          <a:xfrm>
            <a:off x="3080400" y="2629213"/>
            <a:ext cx="2983200" cy="92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Cozinhar com frescor e sabor, vivendo experiências gastronômicas especiais.</a:t>
            </a:r>
            <a:endParaRPr/>
          </a:p>
        </p:txBody>
      </p:sp>
      <p:sp>
        <p:nvSpPr>
          <p:cNvPr id="343" name="Google Shape;343;p50"/>
          <p:cNvSpPr/>
          <p:nvPr/>
        </p:nvSpPr>
        <p:spPr>
          <a:xfrm>
            <a:off x="3080400" y="1488163"/>
            <a:ext cx="2983200" cy="92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</a:rPr>
              <a:t>Receber produtos confiáveis, com procedência e padrão de qualidade garantido.</a:t>
            </a:r>
            <a:endParaRPr sz="1300"/>
          </a:p>
        </p:txBody>
      </p:sp>
      <p:sp>
        <p:nvSpPr>
          <p:cNvPr id="344" name="Google Shape;344;p50"/>
          <p:cNvSpPr/>
          <p:nvPr/>
        </p:nvSpPr>
        <p:spPr>
          <a:xfrm>
            <a:off x="3080400" y="3816625"/>
            <a:ext cx="2983200" cy="925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</a:rPr>
              <a:t>Contar com um fornecedor estável, com entrega refrigerada e recorrente.</a:t>
            </a:r>
            <a:endParaRPr sz="1100"/>
          </a:p>
        </p:txBody>
      </p:sp>
      <p:sp>
        <p:nvSpPr>
          <p:cNvPr id="345" name="Google Shape;345;p50"/>
          <p:cNvSpPr txBox="1"/>
          <p:nvPr/>
        </p:nvSpPr>
        <p:spPr>
          <a:xfrm>
            <a:off x="353925" y="361775"/>
            <a:ext cx="284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DESEJOS</a:t>
            </a:r>
            <a:endParaRPr sz="2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/>
        </p:nvSpPr>
        <p:spPr>
          <a:xfrm>
            <a:off x="449425" y="11180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TOM DE VOZ DA MARCA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1" name="Google Shape;35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2"/>
          <p:cNvSpPr txBox="1"/>
          <p:nvPr/>
        </p:nvSpPr>
        <p:spPr>
          <a:xfrm>
            <a:off x="353925" y="596925"/>
            <a:ext cx="631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AUTÊNTICO E PROCEDENTE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58" name="Google Shape;358;p52"/>
          <p:cNvSpPr txBox="1"/>
          <p:nvPr/>
        </p:nvSpPr>
        <p:spPr>
          <a:xfrm>
            <a:off x="353925" y="1437413"/>
            <a:ext cx="465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transparência, a origem familiar, o cultivo responsável e a confiança em saber exatamente de onde vem o alimento.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É o tom que reforça a história, os pilares de qualidade e a tradição agrícola da Saibai.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59" name="Google Shape;359;p52"/>
          <p:cNvSpPr txBox="1"/>
          <p:nvPr/>
        </p:nvSpPr>
        <p:spPr>
          <a:xfrm>
            <a:off x="353925" y="2581625"/>
            <a:ext cx="6802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IMPLEMENTAR: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Criativo Orgânico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"Por que nossas alcachofras têm esse padrão? Porque seguimos técnicas que nossas famílias aperfeiçoam há mais de 50 anos.”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Criativo de Anúncio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"Nossa alcachofra nasce aqui, cresce aqui e chega à sua mesa com a mesma qualidade do dia da colheita.”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3"/>
          <p:cNvSpPr txBox="1"/>
          <p:nvPr/>
        </p:nvSpPr>
        <p:spPr>
          <a:xfrm>
            <a:off x="353925" y="596925"/>
            <a:ext cx="631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TÉCNICO E CONFIÁVEL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66" name="Google Shape;366;p53"/>
          <p:cNvSpPr txBox="1"/>
          <p:nvPr/>
        </p:nvSpPr>
        <p:spPr>
          <a:xfrm>
            <a:off x="353925" y="1437413"/>
            <a:ext cx="465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domínio sobre cultivo, higiene, logística refrigerada, padronização e qualidade.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É o tom que fala com chefs, compradores e decisores profissionais, mostrando segurança e competência.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67" name="Google Shape;367;p53"/>
          <p:cNvSpPr txBox="1"/>
          <p:nvPr/>
        </p:nvSpPr>
        <p:spPr>
          <a:xfrm>
            <a:off x="353925" y="2581625"/>
            <a:ext cx="7199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IMPLEMENTAR: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Criativo Orgânico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"Como mantemos a textura perfeita da alcachofra? Do resfriamento imediato ao transporte climatizado, cada etapa é pensada para preservar sabor e estrutura."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Criativo de Anúncio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"Entrega refrigerada, padronização por calibre e frescor garantido. Para restaurantes que não podem correr riscos."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4"/>
          <p:cNvSpPr txBox="1"/>
          <p:nvPr/>
        </p:nvSpPr>
        <p:spPr>
          <a:xfrm>
            <a:off x="353925" y="596925"/>
            <a:ext cx="631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AFETIVO E SENSORIAL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74" name="Google Shape;374;p54"/>
          <p:cNvSpPr txBox="1"/>
          <p:nvPr/>
        </p:nvSpPr>
        <p:spPr>
          <a:xfrm>
            <a:off x="353925" y="1529663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 conexão emocional com a comida, as memórias familiares, o prazer de cozinhar e a experiência gastronômica que a alcachofra proporciona.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É o tom que conversa com o público feminino e com quem compra para viver momentos especiais.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75" name="Google Shape;375;p54"/>
          <p:cNvSpPr txBox="1"/>
          <p:nvPr/>
        </p:nvSpPr>
        <p:spPr>
          <a:xfrm>
            <a:off x="353925" y="2581625"/>
            <a:ext cx="6802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IMPLEMENTAR: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Criativo Orgânico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"Para muitos, alcachofra é só um ingrediente. Para nós, é memória, tradição e o prazer de reunir quem a gente ama."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Criativo de Anúncio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"Sabe aquele sabor que lembra a mesa da família? Ele começa com uma alcachofra fresca de verdade."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/>
        </p:nvSpPr>
        <p:spPr>
          <a:xfrm>
            <a:off x="449425" y="1118013"/>
            <a:ext cx="483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MANUAL DE COPY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Saibai Saladas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1" name="Google Shape;38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51" y="3771621"/>
            <a:ext cx="1156899" cy="3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